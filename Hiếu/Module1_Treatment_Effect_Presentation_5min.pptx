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[BIZ 1 &amp; DEV 1 OPENING - 30 SECONDS]</a:t>
            </a:r>
          </a:p>
          <a:p>
            <a:r>
              <a:t>Hello Professor and class. Today we present Module 1 of AI for Medical Treatment. Unlike Course 1 &amp; 2 which predict who gets sick, Module 1 answers the clinical question: What will happen IF we give this specific patient treatment? We will cover the clinical statistics (BIZ 1), the ML meta-learners &amp; C-for-benefit validation (DEV 1), and demonstrate our live interactive precision medicine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[BIZ 1 TALKING POINTS - 1.5 MIN]</a:t>
            </a:r>
          </a:p>
          <a:p>
            <a:r>
              <a:t>1. Clinical studies rely on RCTs because random assignment balances baseline characteristics.</a:t>
            </a:r>
          </a:p>
          <a:p>
            <a:r>
              <a:t>2. In our trial example, the control adverse event rate is 35%, while the treated arm drops to 21%.</a:t>
            </a:r>
          </a:p>
          <a:p>
            <a:r>
              <a:t>3. ARR is 14%. While marketing often quotes relative risk reduction, doctors care about ARR and NNT.</a:t>
            </a:r>
          </a:p>
          <a:p>
            <a:r>
              <a:t>4. An NNT of 7.1 means treating 7 patients saves 1 life. But this is a population average—next, we look at individuals.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[BIZ 1 -&gt; DEV 1 HANDOFF - 1 MIN]</a:t>
            </a:r>
          </a:p>
          <a:p>
            <a:r>
              <a:t>1. For any single patient, we have Y(1) if treated and Y(0) if untreated.</a:t>
            </a:r>
          </a:p>
          <a:p>
            <a:r>
              <a:t>2. Fundamental problem: We cannot travel back in time. We only see one outcome.</a:t>
            </a:r>
          </a:p>
          <a:p>
            <a:r>
              <a:t>3. Exact matching fails in high-dimensional feature spaces.</a:t>
            </a:r>
          </a:p>
          <a:p>
            <a:r>
              <a:t>4. Therefore, DEV 1 uses Machine Learning to estimate CATE(x), conditioning on age, BP, and biomarkers.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[DEV 1 TALKING POINTS - 1.5 MIN]</a:t>
            </a:r>
          </a:p>
          <a:p>
            <a:r>
              <a:t>1. Hi, I am Dev 1. To estimate CATE, the two primary meta-learning architectures are T-Learner and S-Learner.</a:t>
            </a:r>
          </a:p>
          <a:p>
            <a:r>
              <a:t>2. T-Learner fits two independent models: one on treated data, one on control. It freely learns differing risk curves.</a:t>
            </a:r>
          </a:p>
          <a:p>
            <a:r>
              <a:t>3. S-Learner trains one model with W as a feature. BUT beware of tree regularization: if the tree does not split on W, it predicts identical risk for both arms, falsely concluding the drug has zero effect.</a:t>
            </a:r>
          </a:p>
          <a:p>
            <a:r>
              <a:t>4. In our clinical codebase, T-Learner consistently captures individualized benefits with higher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[DEV 1 TALKING POINTS - 1.5 MIN]</a:t>
            </a:r>
          </a:p>
          <a:p>
            <a:r>
              <a:t>1. Since no patient can take both arms, we evaluate using Matched Pairs.</a:t>
            </a:r>
          </a:p>
          <a:p>
            <a:r>
              <a:t>2. We pair high-predicted benefit treated patients with high-predicted benefit control patients.</a:t>
            </a:r>
          </a:p>
          <a:p>
            <a:r>
              <a:t>3. C-for-benefit tests ranking concordance: if model says Pair A benefits more than Pair B, did Pair A actually do better?</a:t>
            </a:r>
          </a:p>
          <a:p>
            <a:r>
              <a:t>4. A score of 0.63 is scientifically strong in causal literature, proving our model reliably prioritizes high-benefit patients.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[DEV 1 TALKING POINTS - 1 MIN]</a:t>
            </a:r>
          </a:p>
          <a:p>
            <a:r>
              <a:t>1. In Module 3, we connect CATE modeling to Explainable AI using Shapley values.</a:t>
            </a:r>
          </a:p>
          <a:p>
            <a:r>
              <a:t>2. For a 62-year-old patient with SBP of 145, the base trial benefit is 14%. SHAP shows that high SBP adds 4.8% and age adds 2.1%, giving a net benefit of 21.8%.</a:t>
            </a:r>
          </a:p>
          <a:p>
            <a:r>
              <a:t>3. This transparency bridges the gap between ML algorithms and bedside clinical adoption.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[LIVE DEMO CUE - 2 MIN]</a:t>
            </a:r>
          </a:p>
          <a:p>
            <a:r>
              <a:t>Now we switch to our live interactive web demo application.</a:t>
            </a:r>
          </a:p>
          <a:p>
            <a:r>
              <a:t>1. Biz 1 shows Tab 1: Slide trial size and event rate to see live ARR and NNT update.</a:t>
            </a:r>
          </a:p>
          <a:p>
            <a:r>
              <a:t>2. Dev 1 shows Tab 2: Adjust patient SBP to 160 to see T-Learner CATE jump to +24% while S-Learner lags.</a:t>
            </a:r>
          </a:p>
          <a:p>
            <a:r>
              <a:t>3. Dev 1 shows Tab 3 &amp; 4: Matched pairs table, C-for-benefit score, and live SHAP waterfall.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[Q&amp;A DEFENSE - READY FOR PROFESSOR QUESTIONS]</a:t>
            </a:r>
          </a:p>
          <a:p>
            <a:r>
              <a:t>Thank you for listening! We are ready for any questions from the professor and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3C5FD"/>
                </a:solidFill>
              </a:defRPr>
            </a:pPr>
            <a:r>
              <a:t>AI FOR MEDICAL TREATMENT (COURSE 3)</a:t>
            </a:r>
          </a:p>
          <a:p>
            <a:pPr>
              <a:spcBef>
                <a:spcPts val="1400"/>
              </a:spcBef>
              <a:defRPr sz="3200" b="1">
                <a:solidFill>
                  <a:srgbClr val="FFFFFF"/>
                </a:solidFill>
              </a:defRPr>
            </a:pPr>
            <a:r>
              <a:t>Module 1: Treatment Effect Estimation &amp; Precision ML</a:t>
            </a:r>
          </a:p>
          <a:p>
            <a:pPr>
              <a:spcBef>
                <a:spcPts val="800"/>
              </a:spcBef>
              <a:defRPr sz="1600">
                <a:solidFill>
                  <a:srgbClr val="CBD5E1"/>
                </a:solidFill>
              </a:defRPr>
            </a:pPr>
            <a:r>
              <a:t>From Passive Risk Prediction to Active Causal Intervention (BIZ 1 &amp; DEV 1 Alignment)</a:t>
            </a:r>
          </a:p>
          <a:p>
            <a:pPr>
              <a:spcBef>
                <a:spcPts val="2800"/>
              </a:spcBef>
              <a:defRPr sz="1300">
                <a:solidFill>
                  <a:srgbClr val="34D399"/>
                </a:solidFill>
              </a:defRPr>
            </a:pPr>
            <a:r>
              <a:t>Presenters: BIZ 1 (Clinical Foundation) &amp; DEV 1 / Hieu (CATE Models, Validation &amp; SHAP)</a:t>
            </a:r>
            <a:br/>
            <a:r>
              <a:t>Total Time Budget: 5 - 10 Minutes (Includes Live Interactive Demo)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3C5FD"/>
                </a:solidFill>
              </a:defRPr>
            </a:pPr>
            <a:r>
              <a:t>MODULE 1 · CLINICAL STATISTICS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Clinical Foundation: Randomized Trials, ARR &amp; NNT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92608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34D399"/>
                </a:solidFill>
              </a:defRPr>
            </a:pPr>
            <a:r>
              <a:t>BIZ 1 · 1.5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t>• Randomized Controlled Trial (RCT): </a:t>
            </a:r>
            <a:r>
              <a:rPr b="0">
                <a:solidFill>
                  <a:srgbClr val="1E293B"/>
                </a:solidFill>
              </a:rPr>
              <a:t>Eliminates confounders by randomly allocating patients to Treatment (W=1) vs Control (W=0).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t>• Absolute Risk Reduction (ARR): </a:t>
            </a:r>
            <a:r>
              <a:rPr b="0">
                <a:solidFill>
                  <a:srgbClr val="1E293B"/>
                </a:solidFill>
              </a:rPr>
              <a:t>ARR = Risk(Control) - Risk(Treatment) = 35% - 21% = +14% absolute drop in adverse events.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t>• Number Needed to Treat (NNT): </a:t>
            </a:r>
            <a:r>
              <a:rPr b="0">
                <a:solidFill>
                  <a:srgbClr val="1E293B"/>
                </a:solidFill>
              </a:rPr>
              <a:t>NNT = 1 / ARR = 1 / 0.14 = 7.1. We need to treat ~7 patients to prevent 1 stroke/death.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t>• The Business / Clinical Value: </a:t>
            </a:r>
            <a:r>
              <a:rPr b="0">
                <a:solidFill>
                  <a:srgbClr val="1E293B"/>
                </a:solidFill>
              </a:rPr>
              <a:t>Translates ML metrics into concrete financial &amp; hospital resource decisions.</a:t>
            </a:r>
          </a:p>
        </p:txBody>
      </p:sp>
      <p:pic>
        <p:nvPicPr>
          <p:cNvPr id="7" name="Picture 6" descr="slide_arr_nn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17320"/>
            <a:ext cx="5303520" cy="31821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3C5FD"/>
                </a:solidFill>
              </a:defRPr>
            </a:pPr>
            <a:r>
              <a:t>MODULE 1 · CORE 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The Causal Shift: From Population ATE to Individual CATE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92608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34D399"/>
                </a:solidFill>
              </a:defRPr>
            </a:pPr>
            <a:r>
              <a:t>BIZ 1 → DEV 1 · 1.0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1. Neyman-Rubin Potential Outcomes Framework: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• Every patient has two potential states: Y(1) [Outcome IF treated] and Y(0) [Outcome IF untreated].</a:t>
            </a:r>
            <a:br/>
            <a:r>
              <a:t>• Individual Treatment Effect (ITE) = Y(0) - Y(1) in {+1 (Benefit), 0 (No effect), -1 (Harm)}.</a:t>
            </a:r>
          </a:p>
          <a:p>
            <a:pPr>
              <a:spcBef>
                <a:spcPts val="1400"/>
              </a:spcBef>
              <a:defRPr sz="1400" b="1">
                <a:solidFill>
                  <a:srgbClr val="DC2626"/>
                </a:solidFill>
              </a:defRPr>
            </a:pPr>
            <a:r>
              <a:t>2. The Fundamental Problem of Causal Inference (Counterfactual Dilemma):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• We only EVER observe one outcome for a real patient (factual). The alternate state (counterfactual) is lost forever.</a:t>
            </a:r>
            <a:br/>
            <a:r>
              <a:t>• Population ATE = E[Y(0) - Y(1)] is an average, but treatments do NOT affect all patients equally!</a:t>
            </a:r>
          </a:p>
          <a:p>
            <a:pPr>
              <a:spcBef>
                <a:spcPts val="1400"/>
              </a:spcBef>
              <a:defRPr sz="1400" b="1">
                <a:solidFill>
                  <a:srgbClr val="059669"/>
                </a:solidFill>
              </a:defRPr>
            </a:pPr>
            <a:r>
              <a:t>3. Machine Learning Solution — Conditional Average Treatment Effect (CATE):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• CATE(x) = E[ Y(0) - Y(1) | X = x ]. ML learns the non-linear function mapping patient features X -&gt; Benefit.</a:t>
            </a:r>
            <a:br/>
            <a:r>
              <a:t>• Hand-off to DEV 1: How do we build and train ML algorithms to estimate CATE(x)?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3C5FD"/>
                </a:solidFill>
              </a:defRPr>
            </a:pPr>
            <a:r>
              <a:t>MODULE 1 · ML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ML Meta-Learners: T-Learner vs. S-Learner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92608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34D399"/>
                </a:solidFill>
              </a:defRPr>
            </a:pPr>
            <a:r>
              <a:t>DEV 1 · 1.5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1. T-Learner (Two-Model Approach)</a:t>
            </a:r>
          </a:p>
          <a:p>
            <a:pPr>
              <a:spcBef>
                <a:spcPts val="300"/>
              </a:spcBef>
              <a:defRPr sz="1200">
                <a:solidFill>
                  <a:srgbClr val="1E293B"/>
                </a:solidFill>
              </a:defRPr>
            </a:pPr>
            <a:r>
              <a:t>• Train model mu1(x) solely on treated cohort (W=1).</a:t>
            </a:r>
            <a:br/>
            <a:r>
              <a:t>• Train model mu0(x) solely on control cohort (W=0).</a:t>
            </a:r>
            <a:br/>
            <a:r>
              <a:t>• CATE_T(x) = mu0(x) - mu1(x).</a:t>
            </a:r>
            <a:br/>
            <a:r>
              <a:t>• Strength: Captures complex treatment interactions without bias.</a:t>
            </a:r>
          </a:p>
          <a:p>
            <a:pPr>
              <a:spcBef>
                <a:spcPts val="1200"/>
              </a:spcBef>
              <a:defRPr sz="1400" b="1">
                <a:solidFill>
                  <a:srgbClr val="D97706"/>
                </a:solidFill>
              </a:defRPr>
            </a:pPr>
            <a:r>
              <a:t>2. S-Learner (Single-Model Approach)</a:t>
            </a:r>
          </a:p>
          <a:p>
            <a:pPr>
              <a:spcBef>
                <a:spcPts val="300"/>
              </a:spcBef>
              <a:defRPr sz="1200">
                <a:solidFill>
                  <a:srgbClr val="1E293B"/>
                </a:solidFill>
              </a:defRPr>
            </a:pPr>
            <a:r>
              <a:t>• Train single model mu(X, W) where treatment W is an ordinary feature.</a:t>
            </a:r>
            <a:br/>
            <a:r>
              <a:t>• CATE_S(x) = mu(x, W=0) - mu(x, W=1).</a:t>
            </a:r>
            <a:br/>
            <a:r>
              <a:t>• Pitfall (Feature Shrinkage): If decision trees split primarily on strong risk factors (Age, SBP), W is ignored -&gt; CATE collapses to 0 for all patients!</a:t>
            </a:r>
          </a:p>
        </p:txBody>
      </p:sp>
      <p:pic>
        <p:nvPicPr>
          <p:cNvPr id="7" name="Picture 6" descr="slide_tlearner_vs_slear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17320"/>
            <a:ext cx="5303520" cy="22274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3C5FD"/>
                </a:solidFill>
              </a:defRPr>
            </a:pPr>
            <a:r>
              <a:t>MODULE 1 · MODEL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Validation Without Ground Truth: Matched Pairs &amp; C-for-benefit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92608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34D399"/>
                </a:solidFill>
              </a:defRPr>
            </a:pPr>
            <a:r>
              <a:t>DEV 1 · 1.5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1. How to Evaluate When Counterfactuals Are Missing?</a:t>
            </a:r>
          </a:p>
          <a:p>
            <a:pPr>
              <a:spcBef>
                <a:spcPts val="300"/>
              </a:spcBef>
              <a:defRPr sz="1250">
                <a:solidFill>
                  <a:srgbClr val="1E293B"/>
                </a:solidFill>
              </a:defRPr>
            </a:pPr>
            <a:r>
              <a:t>• Standard ML compares predictions with ground truth y. But in causal inference, true ITE is unobservable.</a:t>
            </a:r>
            <a:br/>
            <a:r>
              <a:t>• Solution: Create MATCHED PAIRS by matching 1 treated patient with 1 control patient with identical predicted CATE.</a:t>
            </a:r>
          </a:p>
          <a:p>
            <a:pPr>
              <a:spcBef>
                <a:spcPts val="1000"/>
              </a:spcBef>
              <a:defRPr sz="1400" b="1">
                <a:solidFill>
                  <a:srgbClr val="0F172A"/>
                </a:solidFill>
              </a:defRPr>
            </a:pPr>
            <a:r>
              <a:t>2. Pair Observed Benefit &amp; Concordance Ranking:</a:t>
            </a:r>
          </a:p>
          <a:p>
            <a:pPr>
              <a:spcBef>
                <a:spcPts val="300"/>
              </a:spcBef>
              <a:defRPr sz="1250">
                <a:solidFill>
                  <a:srgbClr val="1E293B"/>
                </a:solidFill>
              </a:defRPr>
            </a:pPr>
            <a:r>
              <a:t>• Observed Pair Benefit: yd = Y(control) - Y(treatment) in {+1 (Benefit), 0 (Tie), -1 (Harm)}.</a:t>
            </a:r>
            <a:br/>
            <a:r>
              <a:t>• Predicted Pair Benefit: b_hat = (CATE_treated + CATE_control) / 2.</a:t>
            </a:r>
            <a:br/>
            <a:r>
              <a:t>• Compare pairs of pairs: Permissible (yd differs), Concordant (predicted rank matches observed rank).</a:t>
            </a:r>
          </a:p>
          <a:p>
            <a:pPr>
              <a:spcBef>
                <a:spcPts val="1000"/>
              </a:spcBef>
              <a:defRPr sz="1400" b="1">
                <a:solidFill>
                  <a:srgbClr val="059669"/>
                </a:solidFill>
              </a:defRPr>
            </a:pPr>
            <a:r>
              <a:t>3. C-for-benefit Metric &amp; Benchmark:</a:t>
            </a:r>
          </a:p>
          <a:p>
            <a:pPr>
              <a:spcBef>
                <a:spcPts val="300"/>
              </a:spcBef>
              <a:defRPr sz="1250">
                <a:solidFill>
                  <a:srgbClr val="1E293B"/>
                </a:solidFill>
              </a:defRPr>
            </a:pPr>
            <a:r>
              <a:t>• Formula: C-for-benefit = (Concordant + 0.5 * Risk Ties) / Permissible Pairs.</a:t>
            </a:r>
            <a:br/>
            <a:r>
              <a:t>• Score Interpretation: 0.50 = Random Guessing | 0.55 - 0.65 = State-of-the-Art Medical Research | Our Model = 0.6342.</a:t>
            </a:r>
            <a:br/>
            <a:r>
              <a:t>• Crucial takeaway: Do not expect 0.90+ like image diagnosis AUC; 0.63 represents massive clinical discrimination!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3C5FD"/>
                </a:solidFill>
              </a:defRPr>
            </a:pPr>
            <a:r>
              <a:t>MODULE 1 &amp; 3 SYNERGY · 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Clinical Trust: Local SHAP Waterfall &amp; Precision Prescribing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92608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34D399"/>
                </a:solidFill>
              </a:defRPr>
            </a:pPr>
            <a:r>
              <a:t>DEV 1 · 1.0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Why Did the Model Prescribe Treatment for This Patient?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Base Population Benefit: </a:t>
            </a:r>
            <a:r>
              <a:rPr b="0">
                <a:solidFill>
                  <a:srgbClr val="1E293B"/>
                </a:solidFill>
              </a:rPr>
              <a:t>E[f(X)] = +14.0% average risk reduction across all patients.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Local Shapley Decomposition: </a:t>
            </a:r>
            <a:r>
              <a:rPr b="0">
                <a:solidFill>
                  <a:srgbClr val="1E293B"/>
                </a:solidFill>
              </a:rPr>
              <a:t>Patient #42 (Age 62, SBP 145 mmHg, BMI 28.5) receives +21.8% CATE benefit.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Feature Marginal Contributions: </a:t>
            </a:r>
            <a:r>
              <a:rPr b="0">
                <a:solidFill>
                  <a:srgbClr val="1E293B"/>
                </a:solidFill>
              </a:rPr>
              <a:t>• High SBP: +4.8% benefit boost
• Older Age: +2.1% benefit boost
• Elevated BMI: +0.9% benefit boost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Actionable Precision Medicine: </a:t>
            </a:r>
            <a:r>
              <a:rPr b="0">
                <a:solidFill>
                  <a:srgbClr val="1E293B"/>
                </a:solidFill>
              </a:rPr>
              <a:t>Physicians will not blindly trust a black-box. Local SHAP proves why treatment is justified for this specific individual.</a:t>
            </a:r>
          </a:p>
        </p:txBody>
      </p:sp>
      <p:pic>
        <p:nvPicPr>
          <p:cNvPr id="7" name="Picture 6" descr="slide_shap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17320"/>
            <a:ext cx="530352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3C5FD"/>
                </a:solidFill>
              </a:defRPr>
            </a:pPr>
            <a:r>
              <a:t>LIVE SOFTWARE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Live Interactive Demonstration: End-to-End Precision 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92608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34D399"/>
                </a:solidFill>
              </a:defRPr>
            </a:pPr>
            <a:r>
              <a:t>BIZ 1 &amp; DEV 1 · 2.0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Demonstrating Our Interactive Precision Medicine Dashboard (treatment_effect_demo.html):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t>✔ Step 1 (BIZ 1): Population Trial Simulator: </a:t>
            </a:r>
            <a:r>
              <a:rPr b="0">
                <a:solidFill>
                  <a:srgbClr val="1E293B"/>
                </a:solidFill>
              </a:rPr>
              <a:t>Demonstrating live cohort generation, control vs treated event rates, ARR calculation (+14.0%), and dynamic NNT visualizer (7.1 patients).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t>✔ Step 2 (DEV 1): Real-time Patient Inference: </a:t>
            </a:r>
            <a:r>
              <a:rPr b="0">
                <a:solidFill>
                  <a:srgbClr val="1E293B"/>
                </a:solidFill>
              </a:rPr>
              <a:t>Adjusting patient sliders (Age 62, SBP 145 mmHg). Real-time CATE inference comparing T-Learner (+21.8%) vs S-Learner (+12.4% shrinkage).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t>✔ Step 3 (DEV 1): Matched Pairs C-for-benefit: </a:t>
            </a:r>
            <a:r>
              <a:rPr b="0">
                <a:solidFill>
                  <a:srgbClr val="1E293B"/>
                </a:solidFill>
              </a:rPr>
              <a:t>Live concordance calculator sorting patient pairs and displaying 0.6342 validation score.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t>✔ Step 4 (DEV 1): Local SHAP Explainability: </a:t>
            </a:r>
            <a:r>
              <a:rPr b="0">
                <a:solidFill>
                  <a:srgbClr val="1E293B"/>
                </a:solidFill>
              </a:rPr>
              <a:t>Real-time waterfall decomposition explaining feature drivers and generating automated clinical recommendation badge.</a:t>
            </a:r>
          </a:p>
          <a:p>
            <a:pPr>
              <a:spcBef>
                <a:spcPts val="1600"/>
              </a:spcBef>
              <a:defRPr sz="1300" b="1">
                <a:solidFill>
                  <a:srgbClr val="059669"/>
                </a:solidFill>
              </a:defRPr>
            </a:pPr>
            <a:r>
              <a:t>👉 [SWITCHING TO LIVE DEMO BROWSER WINDOW NOW]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3C5FD"/>
                </a:solidFill>
              </a:defRPr>
            </a:pPr>
            <a:r>
              <a:t>MODULE 1 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Key Takeaways &amp; Lecturer Q&amp;A Defense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92608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34D399"/>
                </a:solidFill>
              </a:defRPr>
            </a:pPr>
            <a:r>
              <a:t>All Members · 1.0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250" b="1">
                <a:solidFill>
                  <a:srgbClr val="1E3A8A"/>
                </a:solidFill>
              </a:defRPr>
            </a:pPr>
            <a:r>
              <a:t>• Q1: Why not just use standard risk prediction models?</a:t>
            </a:r>
          </a:p>
          <a:p>
            <a:pPr>
              <a:spcBef>
                <a:spcPts val="200"/>
              </a:spcBef>
              <a:defRPr sz="1150">
                <a:solidFill>
                  <a:srgbClr val="1E293B"/>
                </a:solidFill>
              </a:defRPr>
            </a:pPr>
            <a:r>
              <a:t>  Ans: Risk models learn correlation P(Y|X). Sick patients get treated more, so a standard model might falsely learn 'Treatment = Higher Death'. Causal ML isolates the true counterfactual treatment effect.</a:t>
            </a:r>
          </a:p>
          <a:p>
            <a:pPr>
              <a:spcBef>
                <a:spcPts val="800"/>
              </a:spcBef>
              <a:defRPr sz="1250" b="1">
                <a:solidFill>
                  <a:srgbClr val="1E3A8A"/>
                </a:solidFill>
              </a:defRPr>
            </a:pPr>
            <a:r>
              <a:t>• Q2: Is a C-for-benefit of 0.63 good enough for clinical deployment?</a:t>
            </a:r>
          </a:p>
          <a:p>
            <a:pPr>
              <a:spcBef>
                <a:spcPts val="200"/>
              </a:spcBef>
              <a:defRPr sz="1150">
                <a:solidFill>
                  <a:srgbClr val="1E293B"/>
                </a:solidFill>
              </a:defRPr>
            </a:pPr>
            <a:r>
              <a:t>  Ans: YES. Ground truth ITE is never observed. In published medical literature, C-for-benefit ranges 0.55-0.65. A 0.63 score provides strong discrimination over standard practice.</a:t>
            </a:r>
          </a:p>
          <a:p>
            <a:pPr>
              <a:spcBef>
                <a:spcPts val="800"/>
              </a:spcBef>
              <a:defRPr sz="1250" b="1">
                <a:solidFill>
                  <a:srgbClr val="1E3A8A"/>
                </a:solidFill>
              </a:defRPr>
            </a:pPr>
            <a:r>
              <a:t>• Q3: Which is better, S-Learner or T-Learner?</a:t>
            </a:r>
          </a:p>
          <a:p>
            <a:pPr>
              <a:spcBef>
                <a:spcPts val="200"/>
              </a:spcBef>
              <a:defRPr sz="1150">
                <a:solidFill>
                  <a:srgbClr val="1E293B"/>
                </a:solidFill>
              </a:defRPr>
            </a:pPr>
            <a:r>
              <a:t>  Ans: T-Learner is superior when sample size is adequate because S-Learner shrinks treatment effects towards zero when tree depth is constrained.</a:t>
            </a:r>
          </a:p>
          <a:p>
            <a:pPr>
              <a:spcBef>
                <a:spcPts val="800"/>
              </a:spcBef>
              <a:defRPr sz="1250" b="1">
                <a:solidFill>
                  <a:srgbClr val="1E3A8A"/>
                </a:solidFill>
              </a:defRPr>
            </a:pPr>
            <a:r>
              <a:t>• Q4: Why combine Module 1 with SHAP in Module 3?</a:t>
            </a:r>
          </a:p>
          <a:p>
            <a:pPr>
              <a:spcBef>
                <a:spcPts val="200"/>
              </a:spcBef>
              <a:defRPr sz="1150">
                <a:solidFill>
                  <a:srgbClr val="1E293B"/>
                </a:solidFill>
              </a:defRPr>
            </a:pPr>
            <a:r>
              <a:t>  Ans: Precision medicine requires both high CATE performance and interpretable justification for clinical governance.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