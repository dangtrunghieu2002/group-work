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gIJmV+VRfOHsvHP+5qtakJU261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slide. BIZ 1 opens. Introduce the four members in under 30 seconds, then go straight to the logic flow slide.</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1 · 1.5 min] ORIENTATION SLIDE FOR THE TEAM AND THE AUDIENCE. Read it downwards: each module solves a problem, and that problem is what creates the need for the next module. Build a model, but the model needs labelled data, so Module 2 produces the labels; the model is still a black box, so Module 3 opens it. If everyone understands this slide, nobody gets lost presenting their own section.</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1] Show the audience that the talk follows the course structure exactly. Do not read the slide aloud — point at the three modules and move on.</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INTERNAL SLIDE — hide before presenting. Used so the team agrees the split. Rule: the two business members take no level ●●● slide, and every level ●●○ slide they do own has a named developer behind it for questions.</a:t>
            </a:r>
            <a:endParaRPr/>
          </a:p>
        </p:txBody>
      </p:sp>
      <p:sp>
        <p:nvSpPr>
          <p:cNvPr id="118" name="Google Shape;11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divider for MODULE 1. Hand over the microphone here. Keep it under 30 seconds.</a:t>
            </a:r>
            <a:endParaRPr/>
          </a:p>
        </p:txBody>
      </p:sp>
      <p:sp>
        <p:nvSpPr>
          <p:cNvPr id="172" name="Google Shape;17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1 · 1 min]  Opening. The course frames Week 3 as interpreting the models built in Courses 1 and 2, not as a standalone topic — say that, it ties the whole specialization together.</a:t>
            </a:r>
            <a:endParaRPr/>
          </a:p>
        </p:txBody>
      </p:sp>
      <p:sp>
        <p:nvSpPr>
          <p:cNvPr id="183" name="Google Shape;18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1 · 1.5 min]  Note the ARR direction: control minus treatment, so a POSITIVE ARR means the treatment helps. This is the opposite ordering from the ATE two slides later — the course is deliberate about it and so must we be. Use the exact course numbers (2%, 5%, NNT 33.3).</a:t>
            </a:r>
            <a:endParaRPr/>
          </a:p>
        </p:txBody>
      </p:sp>
      <p:sp>
        <p:nvSpPr>
          <p:cNvPr id="204" name="Google Shape;2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1 · 1 min]  Keep this to 60 seconds. Its only job is to justify why the simple difference of group means is allowed on the ATE slide.</a:t>
            </a:r>
            <a:endParaRPr/>
          </a:p>
        </p:txBody>
      </p:sp>
      <p:sp>
        <p:nvSpPr>
          <p:cNvPr id="225" name="Google Shape;22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1 · 1.5 min]  THE MOST IMPORTANT SLIDE FOR THE SIGN CONVENTION. Treatment first, control subtracted, so NEGATIVE means the treatment helped. Say it out loud twice. Every later slide in this module depends on the audience holding this convention.</a:t>
            </a:r>
            <a:endParaRPr/>
          </a:p>
        </p:txBody>
      </p:sp>
      <p:sp>
        <p:nvSpPr>
          <p:cNvPr id="243" name="Google Shape;2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1 · 1 min]  ARR and ATE are the same quantity with opposite sign — that is the single cleanest way to state it. The grouping estimator is only valid for RCT data; the instructor says observational data needs strong assumptions. That caveat seeds the critique at the end of the talk.</a:t>
            </a:r>
            <a:endParaRPr/>
          </a:p>
        </p:txBody>
      </p:sp>
      <p:sp>
        <p:nvSpPr>
          <p:cNvPr id="264" name="Google Shape;26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1 · 1 min]  The data-sparsity example is the whole argument for using ML here — zero matching treated patients on just two features. This is the handover point from BIZ 1 to DEV 1.</a:t>
            </a:r>
            <a:endParaRPr/>
          </a:p>
        </p:txBody>
      </p:sp>
      <p:sp>
        <p:nvSpPr>
          <p:cNvPr id="282" name="Google Shape;28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6e8456e58_0_4: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3f6e8456e58_0_4:notes"/>
          <p:cNvSpPr/>
          <p:nvPr>
            <p:ph idx="2" type="sldImg"/>
          </p:nvPr>
        </p:nvSpPr>
        <p:spPr>
          <a:xfrm>
            <a:off x="1143164"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6e8456e58_0_13: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f6e8456e58_0_13:notes"/>
          <p:cNvSpPr/>
          <p:nvPr>
            <p:ph idx="2" type="sldImg"/>
          </p:nvPr>
        </p:nvSpPr>
        <p:spPr>
          <a:xfrm>
            <a:off x="1143164"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6e8456e58_0_22: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3f6e8456e58_0_22:notes"/>
          <p:cNvSpPr/>
          <p:nvPr>
            <p:ph idx="2" type="sldImg"/>
          </p:nvPr>
        </p:nvSpPr>
        <p:spPr>
          <a:xfrm>
            <a:off x="1143164"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6e8456e58_0_31: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3f6e8456e58_0_31:notes"/>
          <p:cNvSpPr/>
          <p:nvPr>
            <p:ph idx="2" type="sldImg"/>
          </p:nvPr>
        </p:nvSpPr>
        <p:spPr>
          <a:xfrm>
            <a:off x="1143164"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6e8456e58_0_40: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f6e8456e58_0_40:notes"/>
          <p:cNvSpPr/>
          <p:nvPr>
            <p:ph idx="2" type="sldImg"/>
          </p:nvPr>
        </p:nvSpPr>
        <p:spPr>
          <a:xfrm>
            <a:off x="1143164"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6e8456e58_0_49: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f6e8456e58_0_49:notes"/>
          <p:cNvSpPr/>
          <p:nvPr>
            <p:ph idx="2" type="sldImg"/>
          </p:nvPr>
        </p:nvSpPr>
        <p:spPr>
          <a:xfrm>
            <a:off x="1143164"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6e8456e58_0_58: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g3f6e8456e58_0_58:notes"/>
          <p:cNvSpPr/>
          <p:nvPr>
            <p:ph idx="2" type="sldImg"/>
          </p:nvPr>
        </p:nvSpPr>
        <p:spPr>
          <a:xfrm>
            <a:off x="1143164"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f6e8456e58_0_67: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f6e8456e58_0_67:notes"/>
          <p:cNvSpPr/>
          <p:nvPr>
            <p:ph idx="2" type="sldImg"/>
          </p:nvPr>
        </p:nvSpPr>
        <p:spPr>
          <a:xfrm>
            <a:off x="1143164"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divider for MODULE 2. Hand over the microphone here. Keep it under 30 seconds.</a:t>
            </a:r>
            <a:endParaRPr/>
          </a:p>
        </p:txBody>
      </p:sp>
      <p:sp>
        <p:nvSpPr>
          <p:cNvPr id="380" name="Google Shape;38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9a3080476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3f9a3080476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2 · 1.5 min]  Two lessons merged, lab content moved to its own slide. Lead with the Forxiga example, then the word "force" for the two-meanings point. Keep it plain — no transformer internals.</a:t>
            </a:r>
            <a:endParaRPr/>
          </a:p>
        </p:txBody>
      </p:sp>
      <p:sp>
        <p:nvSpPr>
          <p:cNvPr id="391" name="Google Shape;391;g3f9a3080476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9a3080476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3f9a3080476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2 · 1.5 min]  Point at the grid and say the winning cell is 8.2, which gives words 11 to 14. Training uses SQuAD first, then medical text such as BioASQ.</a:t>
            </a:r>
            <a:endParaRPr/>
          </a:p>
        </p:txBody>
      </p:sp>
      <p:sp>
        <p:nvSpPr>
          <p:cNvPr id="402" name="Google Shape;402;g3f9a3080476_0_1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f9a3080476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f9a3080476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2 · 1 min]  This is the first lab and the easiest to show. Its point is that every later rule depends on regular text. This one runs exactly as the course intended.</a:t>
            </a:r>
            <a:endParaRPr/>
          </a:p>
        </p:txBody>
      </p:sp>
      <p:sp>
        <p:nvSpPr>
          <p:cNvPr id="413" name="Google Shape;413;g3f9a3080476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9a3080476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3f9a3080476_0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2 · 1 min]  Keep this concrete: a sentence goes in, a row of integers comes out. All 13 cells ran. The shape bug is worth showing because every student meets it.</a:t>
            </a:r>
            <a:endParaRPr/>
          </a:p>
        </p:txBody>
      </p:sp>
      <p:sp>
        <p:nvSpPr>
          <p:cNvPr id="424" name="Google Shape;424;g3f9a3080476_0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9a3080476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f9a3080476_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2 · 1.5 min]  Three lessons merged. SNOMED-CT gives both lists — about 300,000 concepts. End on the trap: the name is in the text, but the report may say no.</a:t>
            </a:r>
            <a:endParaRPr/>
          </a:p>
        </p:txBody>
      </p:sp>
      <p:sp>
        <p:nvSpPr>
          <p:cNvPr id="435" name="Google Shape;435;g3f9a3080476_0_1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9a3080476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f9a3080476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2 · 1.5 min]  Read one negation phrase out loud. The rules approach needs no training data, but it does need time and medical knowledge — that trade-off is the lesson.</a:t>
            </a:r>
            <a:endParaRPr/>
          </a:p>
        </p:txBody>
      </p:sp>
      <p:sp>
        <p:nvSpPr>
          <p:cNvPr id="446" name="Google Shape;446;g3f9a3080476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f9a3080476_0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g3f9a3080476_0_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2 · 1 min]  This slide shows a broken lab being fixed and then improved. The missing rule was the phrase "negative for". That is exactly the point the lesson makes: rule sets need patient human work.</a:t>
            </a:r>
            <a:endParaRPr/>
          </a:p>
        </p:txBody>
      </p:sp>
      <p:sp>
        <p:nvSpPr>
          <p:cNvPr id="457" name="Google Shape;457;g3f9a3080476_0_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9a3080476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f9a3080476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2 · 1.5 min]  Do not use accuracy — most reports are negative, so a model that always says no would look good and be useless. Macro 0.5 against micro 0.6 on the same data makes the averaging choice visible.</a:t>
            </a:r>
            <a:endParaRPr/>
          </a:p>
        </p:txBody>
      </p:sp>
      <p:sp>
        <p:nvSpPr>
          <p:cNvPr id="468" name="Google Shape;468;g3f9a3080476_0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divider for MODULE 3. Hand over the microphone here. Keep it under 30 seconds.</a:t>
            </a:r>
            <a:endParaRPr/>
          </a:p>
        </p:txBody>
      </p:sp>
      <p:sp>
        <p:nvSpPr>
          <p:cNvPr id="479" name="Google Shape;47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9a3080476_0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3f9a3080476_0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2 · 2 min]  Two lessons plus the lab merged. The lab number differs from the course because our data was synthetic — say so. Note the lab never actually shuffles in code: it loads pre-shuffled CSVs and only tests Age, so it cannot reproduce the age-versus-BP comparison the video concludes with.</a:t>
            </a:r>
            <a:endParaRPr/>
          </a:p>
        </p:txBody>
      </p:sp>
      <p:sp>
        <p:nvSpPr>
          <p:cNvPr id="490" name="Google Shape;490;g3f9a3080476_0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f9a3080476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g3f9a3080476_0_2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[BIZ 2 · 1.5 min]  This is the business case for interpretability and it sets up Shapley values, which exist to fix exactly the correlated-feature failure. Hand to DEV 1 on that sentence.</a:t>
            </a:r>
            <a:endParaRPr/>
          </a:p>
        </p:txBody>
      </p:sp>
      <p:sp>
        <p:nvSpPr>
          <p:cNvPr id="501" name="Google Shape;501;g3f9a3080476_0_2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1 · 2 min]  Present the ordering-average definition, which is exactly what the course teaches. Do NOT put the general weighted-subset Shapley formula on the slide — the course never shows it and it will invite a question you cannot answer from the material.</a:t>
            </a:r>
            <a:endParaRPr/>
          </a:p>
        </p:txBody>
      </p:sp>
      <p:sp>
        <p:nvSpPr>
          <p:cNvPr id="512" name="Google Shape;51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1 · 1.5 min]  Show a real force plot and read it out loud in plain language. The additivity property is what lets you say "this patient is 0.26 above baseline, and here is exactly where that came from".</a:t>
            </a:r>
            <a:endParaRPr/>
          </a:p>
        </p:txBody>
      </p:sp>
      <p:sp>
        <p:nvSpPr>
          <p:cNvPr id="530" name="Google Shape;530;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9a3080476_0_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g3f9a3080476_0_2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2 · 2 min]  Three lessons merged into one pipeline. Two honest caveats: the detail on screen is interpolated rather than measured, and ReLU discards negative evidence by construction. The course shows separate cardiomegaly and edema maps on the same image.</a:t>
            </a:r>
            <a:endParaRPr/>
          </a:p>
        </p:txBody>
      </p:sp>
      <p:sp>
        <p:nvSpPr>
          <p:cNvPr id="551" name="Google Shape;551;g3f9a3080476_0_2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9a3080476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g3f9a3080476_0_2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 2 · 1.5 min]  Show that the concepts survive contact with code, and that the lab has two real defects. Ranking of the weights survives the sigmoid mistake because it is a positive rescaling, but the magnitudes are not the quantity the lesson defines, and gradients vanish when the probability saturates.</a:t>
            </a:r>
            <a:endParaRPr/>
          </a:p>
        </p:txBody>
      </p:sp>
      <p:sp>
        <p:nvSpPr>
          <p:cNvPr id="562" name="Google Shape;562;g3f9a3080476_0_2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f9a3080476_0_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f9a3080476_0_2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members · 2.5 min]  Closing slide, delivered by the whole team — each member takes the insight from their own module. This replaces the separate assessment and conclusion slides. Keep it to seven sentences and stop; do not re-teach the content.</a:t>
            </a:r>
            <a:endParaRPr/>
          </a:p>
        </p:txBody>
      </p:sp>
      <p:sp>
        <p:nvSpPr>
          <p:cNvPr id="573" name="Google Shape;573;g3f9a3080476_0_2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members · 10 min]  Each question already has an owner, so nobody is left silent. Suggested answers are in Section 6.1 of AI_For_Medical_Treatment_Course3_Summary.docx. For an unlisted question, the owner of the relevant slide answers first and a developer covers the technical detail.</a:t>
            </a:r>
            <a:endParaRPr/>
          </a:p>
        </p:txBody>
      </p:sp>
      <p:sp>
        <p:nvSpPr>
          <p:cNvPr id="584" name="Google Shape;584;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g3f6e8456e58_0_151"/>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g3f6e8456e58_0_151"/>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g3f6e8456e58_0_151"/>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13B"/>
        </a:solidFill>
      </p:bgPr>
    </p:bg>
    <p:spTree>
      <p:nvGrpSpPr>
        <p:cNvPr id="19" name="Shape 19"/>
        <p:cNvGrpSpPr/>
        <p:nvPr/>
      </p:nvGrpSpPr>
      <p:grpSpPr>
        <a:xfrm>
          <a:off x="0" y="0"/>
          <a:ext cx="0" cy="0"/>
          <a:chOff x="0" y="0"/>
          <a:chExt cx="0" cy="0"/>
        </a:xfrm>
      </p:grpSpPr>
      <p:sp>
        <p:nvSpPr>
          <p:cNvPr id="20" name="Google Shape;20;p1"/>
          <p:cNvSpPr/>
          <p:nvPr/>
        </p:nvSpPr>
        <p:spPr>
          <a:xfrm>
            <a:off x="822960" y="1828800"/>
            <a:ext cx="10515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AI FOR MEDICAL TREATMENT</a:t>
            </a:r>
            <a:endParaRPr b="0" i="0" sz="4400" u="none" cap="none" strike="noStrike">
              <a:solidFill>
                <a:schemeClr val="dk1"/>
              </a:solidFill>
              <a:latin typeface="Calibri"/>
              <a:ea typeface="Calibri"/>
              <a:cs typeface="Calibri"/>
              <a:sym typeface="Calibri"/>
            </a:endParaRPr>
          </a:p>
        </p:txBody>
      </p:sp>
      <p:sp>
        <p:nvSpPr>
          <p:cNvPr id="21" name="Google Shape;21;p1"/>
          <p:cNvSpPr/>
          <p:nvPr/>
        </p:nvSpPr>
        <p:spPr>
          <a:xfrm>
            <a:off x="822960" y="2743200"/>
            <a:ext cx="10515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FC4CC"/>
              </a:buClr>
              <a:buSzPts val="1800"/>
              <a:buFont typeface="Calibri"/>
              <a:buNone/>
            </a:pPr>
            <a:r>
              <a:rPr b="0" i="0" lang="en-US" sz="1800" u="none" cap="none" strike="noStrike">
                <a:solidFill>
                  <a:srgbClr val="9FC4CC"/>
                </a:solidFill>
                <a:latin typeface="Calibri"/>
                <a:ea typeface="Calibri"/>
                <a:cs typeface="Calibri"/>
                <a:sym typeface="Calibri"/>
              </a:rPr>
              <a:t>Course 3 · AI for Medicine Specialization · DeepLearning.AI</a:t>
            </a:r>
            <a:endParaRPr b="0" i="0" sz="1800" u="none" cap="none" strike="noStrike">
              <a:solidFill>
                <a:schemeClr val="dk1"/>
              </a:solidFill>
              <a:latin typeface="Calibri"/>
              <a:ea typeface="Calibri"/>
              <a:cs typeface="Calibri"/>
              <a:sym typeface="Calibri"/>
            </a:endParaRPr>
          </a:p>
        </p:txBody>
      </p:sp>
      <p:sp>
        <p:nvSpPr>
          <p:cNvPr id="22" name="Google Shape;22;p1"/>
          <p:cNvSpPr/>
          <p:nvPr/>
        </p:nvSpPr>
        <p:spPr>
          <a:xfrm>
            <a:off x="822960" y="3200400"/>
            <a:ext cx="10515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7B0"/>
              </a:buClr>
              <a:buSzPts val="1500"/>
              <a:buFont typeface="Calibri"/>
              <a:buNone/>
            </a:pPr>
            <a:r>
              <a:rPr b="0" i="1" lang="en-US" sz="1500" u="none" cap="none" strike="noStrike">
                <a:solidFill>
                  <a:srgbClr val="7FA7B0"/>
                </a:solidFill>
                <a:latin typeface="Calibri"/>
                <a:ea typeface="Calibri"/>
                <a:cs typeface="Calibri"/>
                <a:sym typeface="Calibri"/>
              </a:rPr>
              <a:t>Course: Introduction to Machine Learning</a:t>
            </a:r>
            <a:endParaRPr b="0" i="0" sz="1500" u="none" cap="none" strike="noStrike">
              <a:solidFill>
                <a:schemeClr val="dk1"/>
              </a:solidFill>
              <a:latin typeface="Calibri"/>
              <a:ea typeface="Calibri"/>
              <a:cs typeface="Calibri"/>
              <a:sym typeface="Calibri"/>
            </a:endParaRPr>
          </a:p>
        </p:txBody>
      </p:sp>
      <p:sp>
        <p:nvSpPr>
          <p:cNvPr id="23" name="Google Shape;23;p1"/>
          <p:cNvSpPr/>
          <p:nvPr/>
        </p:nvSpPr>
        <p:spPr>
          <a:xfrm>
            <a:off x="822960" y="4114800"/>
            <a:ext cx="566928" cy="566928"/>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822960" y="411480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B1</a:t>
            </a:r>
            <a:endParaRPr b="0" i="0" sz="1500" u="none" cap="none" strike="noStrike">
              <a:solidFill>
                <a:schemeClr val="dk1"/>
              </a:solidFill>
              <a:latin typeface="Calibri"/>
              <a:ea typeface="Calibri"/>
              <a:cs typeface="Calibri"/>
              <a:sym typeface="Calibri"/>
            </a:endParaRPr>
          </a:p>
        </p:txBody>
      </p:sp>
      <p:sp>
        <p:nvSpPr>
          <p:cNvPr id="25" name="Google Shape;25;p1"/>
          <p:cNvSpPr/>
          <p:nvPr/>
        </p:nvSpPr>
        <p:spPr>
          <a:xfrm>
            <a:off x="1481328" y="4114800"/>
            <a:ext cx="1371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0E4"/>
              </a:buClr>
              <a:buSzPts val="1300"/>
              <a:buFont typeface="Calibri"/>
              <a:buNone/>
            </a:pPr>
            <a:r>
              <a:rPr b="0" i="0" lang="en-US" sz="1300" u="none" cap="none" strike="noStrike">
                <a:solidFill>
                  <a:srgbClr val="CFE0E4"/>
                </a:solidFill>
                <a:latin typeface="Calibri"/>
                <a:ea typeface="Calibri"/>
                <a:cs typeface="Calibri"/>
                <a:sym typeface="Calibri"/>
              </a:rPr>
              <a:t>BIZ 1</a:t>
            </a:r>
            <a:endParaRPr b="0" i="0" sz="1300" u="none" cap="none" strike="noStrike">
              <a:solidFill>
                <a:schemeClr val="dk1"/>
              </a:solidFill>
              <a:latin typeface="Calibri"/>
              <a:ea typeface="Calibri"/>
              <a:cs typeface="Calibri"/>
              <a:sym typeface="Calibri"/>
            </a:endParaRPr>
          </a:p>
        </p:txBody>
      </p:sp>
      <p:sp>
        <p:nvSpPr>
          <p:cNvPr id="26" name="Google Shape;26;p1"/>
          <p:cNvSpPr/>
          <p:nvPr/>
        </p:nvSpPr>
        <p:spPr>
          <a:xfrm>
            <a:off x="3108960" y="4114800"/>
            <a:ext cx="566928" cy="566928"/>
          </a:xfrm>
          <a:prstGeom prst="ellipse">
            <a:avLst/>
          </a:prstGeom>
          <a:solidFill>
            <a:srgbClr val="8C6D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3108960" y="411480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B2</a:t>
            </a:r>
            <a:endParaRPr b="0" i="0" sz="1500" u="none" cap="none" strike="noStrike">
              <a:solidFill>
                <a:schemeClr val="dk1"/>
              </a:solidFill>
              <a:latin typeface="Calibri"/>
              <a:ea typeface="Calibri"/>
              <a:cs typeface="Calibri"/>
              <a:sym typeface="Calibri"/>
            </a:endParaRPr>
          </a:p>
        </p:txBody>
      </p:sp>
      <p:sp>
        <p:nvSpPr>
          <p:cNvPr id="28" name="Google Shape;28;p1"/>
          <p:cNvSpPr/>
          <p:nvPr/>
        </p:nvSpPr>
        <p:spPr>
          <a:xfrm>
            <a:off x="3767328" y="4114800"/>
            <a:ext cx="1371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0E4"/>
              </a:buClr>
              <a:buSzPts val="1300"/>
              <a:buFont typeface="Calibri"/>
              <a:buNone/>
            </a:pPr>
            <a:r>
              <a:rPr b="0" i="0" lang="en-US" sz="1300" u="none" cap="none" strike="noStrike">
                <a:solidFill>
                  <a:srgbClr val="CFE0E4"/>
                </a:solidFill>
                <a:latin typeface="Calibri"/>
                <a:ea typeface="Calibri"/>
                <a:cs typeface="Calibri"/>
                <a:sym typeface="Calibri"/>
              </a:rPr>
              <a:t>BIZ 2</a:t>
            </a:r>
            <a:endParaRPr b="0" i="0" sz="1300" u="none" cap="none" strike="noStrike">
              <a:solidFill>
                <a:schemeClr val="dk1"/>
              </a:solidFill>
              <a:latin typeface="Calibri"/>
              <a:ea typeface="Calibri"/>
              <a:cs typeface="Calibri"/>
              <a:sym typeface="Calibri"/>
            </a:endParaRPr>
          </a:p>
        </p:txBody>
      </p:sp>
      <p:sp>
        <p:nvSpPr>
          <p:cNvPr id="29" name="Google Shape;29;p1"/>
          <p:cNvSpPr/>
          <p:nvPr/>
        </p:nvSpPr>
        <p:spPr>
          <a:xfrm>
            <a:off x="5394960" y="4114800"/>
            <a:ext cx="566928" cy="566928"/>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5394960" y="411480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D1</a:t>
            </a:r>
            <a:endParaRPr b="0" i="0" sz="1500" u="none" cap="none" strike="noStrike">
              <a:solidFill>
                <a:schemeClr val="dk1"/>
              </a:solidFill>
              <a:latin typeface="Calibri"/>
              <a:ea typeface="Calibri"/>
              <a:cs typeface="Calibri"/>
              <a:sym typeface="Calibri"/>
            </a:endParaRPr>
          </a:p>
        </p:txBody>
      </p:sp>
      <p:sp>
        <p:nvSpPr>
          <p:cNvPr id="31" name="Google Shape;31;p1"/>
          <p:cNvSpPr/>
          <p:nvPr/>
        </p:nvSpPr>
        <p:spPr>
          <a:xfrm>
            <a:off x="6053328" y="4114800"/>
            <a:ext cx="1371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0E4"/>
              </a:buClr>
              <a:buSzPts val="1300"/>
              <a:buFont typeface="Calibri"/>
              <a:buNone/>
            </a:pPr>
            <a:r>
              <a:rPr b="0" i="0" lang="en-US" sz="1300" u="none" cap="none" strike="noStrike">
                <a:solidFill>
                  <a:srgbClr val="CFE0E4"/>
                </a:solidFill>
                <a:latin typeface="Calibri"/>
                <a:ea typeface="Calibri"/>
                <a:cs typeface="Calibri"/>
                <a:sym typeface="Calibri"/>
              </a:rPr>
              <a:t>DEV 1</a:t>
            </a:r>
            <a:endParaRPr b="0" i="0" sz="1300" u="none" cap="none" strike="noStrike">
              <a:solidFill>
                <a:schemeClr val="dk1"/>
              </a:solidFill>
              <a:latin typeface="Calibri"/>
              <a:ea typeface="Calibri"/>
              <a:cs typeface="Calibri"/>
              <a:sym typeface="Calibri"/>
            </a:endParaRPr>
          </a:p>
        </p:txBody>
      </p:sp>
      <p:sp>
        <p:nvSpPr>
          <p:cNvPr id="32" name="Google Shape;32;p1"/>
          <p:cNvSpPr/>
          <p:nvPr/>
        </p:nvSpPr>
        <p:spPr>
          <a:xfrm>
            <a:off x="7680960" y="4114800"/>
            <a:ext cx="566928" cy="566928"/>
          </a:xfrm>
          <a:prstGeom prst="ellipse">
            <a:avLst/>
          </a:prstGeom>
          <a:solidFill>
            <a:srgbClr val="2E5A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7680960" y="411480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D2</a:t>
            </a:r>
            <a:endParaRPr b="0" i="0" sz="1500" u="none" cap="none" strike="noStrike">
              <a:solidFill>
                <a:schemeClr val="dk1"/>
              </a:solidFill>
              <a:latin typeface="Calibri"/>
              <a:ea typeface="Calibri"/>
              <a:cs typeface="Calibri"/>
              <a:sym typeface="Calibri"/>
            </a:endParaRPr>
          </a:p>
        </p:txBody>
      </p:sp>
      <p:sp>
        <p:nvSpPr>
          <p:cNvPr id="34" name="Google Shape;34;p1"/>
          <p:cNvSpPr/>
          <p:nvPr/>
        </p:nvSpPr>
        <p:spPr>
          <a:xfrm>
            <a:off x="8339328" y="4114800"/>
            <a:ext cx="1371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0E4"/>
              </a:buClr>
              <a:buSzPts val="1300"/>
              <a:buFont typeface="Calibri"/>
              <a:buNone/>
            </a:pPr>
            <a:r>
              <a:rPr b="0" i="0" lang="en-US" sz="1300" u="none" cap="none" strike="noStrike">
                <a:solidFill>
                  <a:srgbClr val="CFE0E4"/>
                </a:solidFill>
                <a:latin typeface="Calibri"/>
                <a:ea typeface="Calibri"/>
                <a:cs typeface="Calibri"/>
                <a:sym typeface="Calibri"/>
              </a:rPr>
              <a:t>DEV 2</a:t>
            </a:r>
            <a:endParaRPr b="0" i="0" sz="1300" u="none" cap="none" strike="noStrike">
              <a:solidFill>
                <a:schemeClr val="dk1"/>
              </a:solidFill>
              <a:latin typeface="Calibri"/>
              <a:ea typeface="Calibri"/>
              <a:cs typeface="Calibri"/>
              <a:sym typeface="Calibri"/>
            </a:endParaRPr>
          </a:p>
        </p:txBody>
      </p:sp>
      <p:sp>
        <p:nvSpPr>
          <p:cNvPr id="35" name="Google Shape;35;p1"/>
          <p:cNvSpPr/>
          <p:nvPr/>
        </p:nvSpPr>
        <p:spPr>
          <a:xfrm>
            <a:off x="822960" y="5120640"/>
            <a:ext cx="10515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7B0"/>
              </a:buClr>
              <a:buSzPts val="1300"/>
              <a:buFont typeface="Calibri"/>
              <a:buNone/>
            </a:pPr>
            <a:r>
              <a:rPr b="0" i="0" lang="en-US" sz="1300" u="none" cap="none" strike="noStrike">
                <a:solidFill>
                  <a:srgbClr val="7FA7B0"/>
                </a:solidFill>
                <a:latin typeface="Calibri"/>
                <a:ea typeface="Calibri"/>
                <a:cs typeface="Calibri"/>
                <a:sym typeface="Calibri"/>
              </a:rPr>
              <a:t>40 slides  ·  40 min talk + 10 min Q&amp;A  =  50 min total</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2"/>
          <p:cNvSpPr/>
          <p:nvPr/>
        </p:nvSpPr>
        <p:spPr>
          <a:xfrm>
            <a:off x="502920" y="347472"/>
            <a:ext cx="111556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200"/>
              <a:buFont typeface="Calibri"/>
              <a:buNone/>
            </a:pPr>
            <a:r>
              <a:rPr b="1" i="0" lang="en-US" sz="3200" u="none" cap="none" strike="noStrike">
                <a:solidFill>
                  <a:srgbClr val="17313B"/>
                </a:solidFill>
                <a:latin typeface="Calibri"/>
                <a:ea typeface="Calibri"/>
                <a:cs typeface="Calibri"/>
                <a:sym typeface="Calibri"/>
              </a:rPr>
              <a:t>The Logic Flow of Course 3</a:t>
            </a:r>
            <a:endParaRPr b="0" i="0" sz="3200" u="none" cap="none" strike="noStrike">
              <a:solidFill>
                <a:schemeClr val="dk1"/>
              </a:solidFill>
              <a:latin typeface="Calibri"/>
              <a:ea typeface="Calibri"/>
              <a:cs typeface="Calibri"/>
              <a:sym typeface="Calibri"/>
            </a:endParaRPr>
          </a:p>
        </p:txBody>
      </p:sp>
      <p:sp>
        <p:nvSpPr>
          <p:cNvPr id="42" name="Google Shape;42;p2"/>
          <p:cNvSpPr/>
          <p:nvPr/>
        </p:nvSpPr>
        <p:spPr>
          <a:xfrm>
            <a:off x="502920" y="914400"/>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1400"/>
              <a:buFont typeface="Calibri"/>
              <a:buNone/>
            </a:pPr>
            <a:r>
              <a:rPr b="0" i="1" lang="en-US" sz="1400" u="none" cap="none" strike="noStrike">
                <a:solidFill>
                  <a:srgbClr val="6B7A7F"/>
                </a:solidFill>
                <a:latin typeface="Calibri"/>
                <a:ea typeface="Calibri"/>
                <a:cs typeface="Calibri"/>
                <a:sym typeface="Calibri"/>
              </a:rPr>
              <a:t>The three modules are not independent — each one creates the need for the next</a:t>
            </a:r>
            <a:endParaRPr b="0" i="0" sz="1400" u="none" cap="none" strike="noStrike">
              <a:solidFill>
                <a:schemeClr val="dk1"/>
              </a:solidFill>
              <a:latin typeface="Calibri"/>
              <a:ea typeface="Calibri"/>
              <a:cs typeface="Calibri"/>
              <a:sym typeface="Calibri"/>
            </a:endParaRPr>
          </a:p>
        </p:txBody>
      </p:sp>
      <p:sp>
        <p:nvSpPr>
          <p:cNvPr id="43" name="Google Shape;43;p2"/>
          <p:cNvSpPr/>
          <p:nvPr/>
        </p:nvSpPr>
        <p:spPr>
          <a:xfrm>
            <a:off x="502920" y="1353312"/>
            <a:ext cx="11155680" cy="1207008"/>
          </a:xfrm>
          <a:prstGeom prst="roundRect">
            <a:avLst>
              <a:gd fmla="val 5303"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777240" y="1636776"/>
            <a:ext cx="640080" cy="64008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777240" y="1636776"/>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46" name="Google Shape;46;p2"/>
          <p:cNvSpPr/>
          <p:nvPr/>
        </p:nvSpPr>
        <p:spPr>
          <a:xfrm>
            <a:off x="1600200" y="1472184"/>
            <a:ext cx="6949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600"/>
              <a:buFont typeface="Calibri"/>
              <a:buNone/>
            </a:pPr>
            <a:r>
              <a:rPr b="1" i="0" lang="en-US" sz="1600" u="none" cap="none" strike="noStrike">
                <a:solidFill>
                  <a:srgbClr val="17313B"/>
                </a:solidFill>
                <a:latin typeface="Calibri"/>
                <a:ea typeface="Calibri"/>
                <a:cs typeface="Calibri"/>
                <a:sym typeface="Calibri"/>
              </a:rPr>
              <a:t>MODULE 1 · Treatment Effect Estimation</a:t>
            </a:r>
            <a:endParaRPr b="0" i="0" sz="1600" u="none" cap="none" strike="noStrike">
              <a:solidFill>
                <a:schemeClr val="dk1"/>
              </a:solidFill>
              <a:latin typeface="Calibri"/>
              <a:ea typeface="Calibri"/>
              <a:cs typeface="Calibri"/>
              <a:sym typeface="Calibri"/>
            </a:endParaRPr>
          </a:p>
        </p:txBody>
      </p:sp>
      <p:sp>
        <p:nvSpPr>
          <p:cNvPr id="47" name="Google Shape;47;p2"/>
          <p:cNvSpPr/>
          <p:nvPr/>
        </p:nvSpPr>
        <p:spPr>
          <a:xfrm>
            <a:off x="1600200" y="1764792"/>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0F"/>
              </a:buClr>
              <a:buSzPts val="1200"/>
              <a:buFont typeface="Calibri"/>
              <a:buNone/>
            </a:pPr>
            <a:r>
              <a:rPr b="0" i="1" lang="en-US" sz="1200" u="none" cap="none" strike="noStrike">
                <a:solidFill>
                  <a:srgbClr val="B4550F"/>
                </a:solidFill>
                <a:latin typeface="Calibri"/>
                <a:ea typeface="Calibri"/>
                <a:cs typeface="Calibri"/>
                <a:sym typeface="Calibri"/>
              </a:rPr>
              <a:t>Does this treatment actually help — and which patients does it help most?</a:t>
            </a:r>
            <a:endParaRPr b="0" i="0" sz="1200" u="none" cap="none" strike="noStrike">
              <a:solidFill>
                <a:schemeClr val="dk1"/>
              </a:solidFill>
              <a:latin typeface="Calibri"/>
              <a:ea typeface="Calibri"/>
              <a:cs typeface="Calibri"/>
              <a:sym typeface="Calibri"/>
            </a:endParaRPr>
          </a:p>
        </p:txBody>
      </p:sp>
      <p:sp>
        <p:nvSpPr>
          <p:cNvPr id="48" name="Google Shape;48;p2"/>
          <p:cNvSpPr/>
          <p:nvPr/>
        </p:nvSpPr>
        <p:spPr>
          <a:xfrm>
            <a:off x="1600200" y="2066544"/>
            <a:ext cx="77724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1100"/>
              <a:buFont typeface="Calibri"/>
              <a:buNone/>
            </a:pPr>
            <a:r>
              <a:rPr b="0" i="0" lang="en-US" sz="1100" u="none" cap="none" strike="noStrike">
                <a:solidFill>
                  <a:srgbClr val="20262A"/>
                </a:solidFill>
                <a:latin typeface="Calibri"/>
                <a:ea typeface="Calibri"/>
                <a:cs typeface="Calibri"/>
                <a:sym typeface="Calibri"/>
              </a:rPr>
              <a:t>ARR / NNT  →  RCT  →  Y(1), Y(0)  →  ATE  →  CATE  →  T-learner / S-learner  →  C-for-benefit</a:t>
            </a:r>
            <a:endParaRPr b="0" i="0" sz="1100" u="none" cap="none" strike="noStrike">
              <a:solidFill>
                <a:schemeClr val="dk1"/>
              </a:solidFill>
              <a:latin typeface="Calibri"/>
              <a:ea typeface="Calibri"/>
              <a:cs typeface="Calibri"/>
              <a:sym typeface="Calibri"/>
            </a:endParaRPr>
          </a:p>
        </p:txBody>
      </p:sp>
      <p:sp>
        <p:nvSpPr>
          <p:cNvPr id="49" name="Google Shape;49;p2"/>
          <p:cNvSpPr/>
          <p:nvPr/>
        </p:nvSpPr>
        <p:spPr>
          <a:xfrm>
            <a:off x="9509760" y="1673352"/>
            <a:ext cx="1965960" cy="594360"/>
          </a:xfrm>
          <a:prstGeom prst="rect">
            <a:avLst/>
          </a:prstGeom>
          <a:noFill/>
          <a:ln>
            <a:noFill/>
          </a:ln>
        </p:spPr>
        <p:txBody>
          <a:bodyPr anchorCtr="0" anchor="ctr" bIns="0" lIns="0" spcFirstLastPara="1" rIns="0" wrap="square" tIns="0">
            <a:noAutofit/>
          </a:bodyPr>
          <a:lstStyle/>
          <a:p>
            <a:pPr indent="0" lvl="0" marL="0" marR="0" rtl="0" algn="r">
              <a:lnSpc>
                <a:spcPct val="142857"/>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Slides 5–16</a:t>
            </a:r>
            <a:endParaRPr b="0" i="0" sz="1050" u="none" cap="none" strike="noStrike">
              <a:solidFill>
                <a:schemeClr val="dk1"/>
              </a:solidFill>
              <a:latin typeface="Calibri"/>
              <a:ea typeface="Calibri"/>
              <a:cs typeface="Calibri"/>
              <a:sym typeface="Calibri"/>
            </a:endParaRPr>
          </a:p>
          <a:p>
            <a:pPr indent="0" lvl="0" marL="0" marR="0" rtl="0" algn="r">
              <a:lnSpc>
                <a:spcPct val="142857"/>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BIZ 1 → DEV 1</a:t>
            </a:r>
            <a:endParaRPr b="0" i="0" sz="1050" u="none" cap="none" strike="noStrike">
              <a:solidFill>
                <a:schemeClr val="dk1"/>
              </a:solidFill>
              <a:latin typeface="Calibri"/>
              <a:ea typeface="Calibri"/>
              <a:cs typeface="Calibri"/>
              <a:sym typeface="Calibri"/>
            </a:endParaRPr>
          </a:p>
        </p:txBody>
      </p:sp>
      <p:sp>
        <p:nvSpPr>
          <p:cNvPr id="50" name="Google Shape;50;p2"/>
          <p:cNvSpPr/>
          <p:nvPr/>
        </p:nvSpPr>
        <p:spPr>
          <a:xfrm>
            <a:off x="1600200" y="2587752"/>
            <a:ext cx="9875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0F"/>
              </a:buClr>
              <a:buSzPts val="1150"/>
              <a:buFont typeface="Calibri"/>
              <a:buNone/>
            </a:pPr>
            <a:r>
              <a:rPr b="1" i="0" lang="en-US" sz="1150" u="none" cap="none" strike="noStrike">
                <a:solidFill>
                  <a:srgbClr val="B4550F"/>
                </a:solidFill>
                <a:latin typeface="Calibri"/>
                <a:ea typeface="Calibri"/>
                <a:cs typeface="Calibri"/>
                <a:sym typeface="Calibri"/>
              </a:rPr>
              <a:t>↓   Every model above needs LABELLED DATA at scale — and in medicine those labels sit inside free-text reports</a:t>
            </a:r>
            <a:endParaRPr b="0" i="0" sz="1150" u="none" cap="none" strike="noStrike">
              <a:solidFill>
                <a:schemeClr val="dk1"/>
              </a:solidFill>
              <a:latin typeface="Calibri"/>
              <a:ea typeface="Calibri"/>
              <a:cs typeface="Calibri"/>
              <a:sym typeface="Calibri"/>
            </a:endParaRPr>
          </a:p>
        </p:txBody>
      </p:sp>
      <p:sp>
        <p:nvSpPr>
          <p:cNvPr id="51" name="Google Shape;51;p2"/>
          <p:cNvSpPr/>
          <p:nvPr/>
        </p:nvSpPr>
        <p:spPr>
          <a:xfrm>
            <a:off x="502920" y="2980944"/>
            <a:ext cx="11155680" cy="1207008"/>
          </a:xfrm>
          <a:prstGeom prst="roundRect">
            <a:avLst>
              <a:gd fmla="val 5303"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777240" y="3264408"/>
            <a:ext cx="640080" cy="640080"/>
          </a:xfrm>
          <a:prstGeom prst="ellipse">
            <a:avLst/>
          </a:prstGeom>
          <a:solidFill>
            <a:srgbClr val="2E5A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777240" y="326440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54" name="Google Shape;54;p2"/>
          <p:cNvSpPr/>
          <p:nvPr/>
        </p:nvSpPr>
        <p:spPr>
          <a:xfrm>
            <a:off x="1600200" y="3099816"/>
            <a:ext cx="6949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600"/>
              <a:buFont typeface="Calibri"/>
              <a:buNone/>
            </a:pPr>
            <a:r>
              <a:rPr b="1" i="0" lang="en-US" sz="1600" u="none" cap="none" strike="noStrike">
                <a:solidFill>
                  <a:srgbClr val="17313B"/>
                </a:solidFill>
                <a:latin typeface="Calibri"/>
                <a:ea typeface="Calibri"/>
                <a:cs typeface="Calibri"/>
                <a:sym typeface="Calibri"/>
              </a:rPr>
              <a:t>MODULE 2 · Medical Question Answering</a:t>
            </a:r>
            <a:endParaRPr b="0" i="0" sz="1600" u="none" cap="none" strike="noStrike">
              <a:solidFill>
                <a:schemeClr val="dk1"/>
              </a:solidFill>
              <a:latin typeface="Calibri"/>
              <a:ea typeface="Calibri"/>
              <a:cs typeface="Calibri"/>
              <a:sym typeface="Calibri"/>
            </a:endParaRPr>
          </a:p>
        </p:txBody>
      </p:sp>
      <p:sp>
        <p:nvSpPr>
          <p:cNvPr id="55" name="Google Shape;55;p2"/>
          <p:cNvSpPr/>
          <p:nvPr/>
        </p:nvSpPr>
        <p:spPr>
          <a:xfrm>
            <a:off x="1600200" y="3392424"/>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A8C"/>
              </a:buClr>
              <a:buSzPts val="1200"/>
              <a:buFont typeface="Calibri"/>
              <a:buNone/>
            </a:pPr>
            <a:r>
              <a:rPr b="0" i="1" lang="en-US" sz="1200" u="none" cap="none" strike="noStrike">
                <a:solidFill>
                  <a:srgbClr val="2E5A8C"/>
                </a:solidFill>
                <a:latin typeface="Calibri"/>
                <a:ea typeface="Calibri"/>
                <a:cs typeface="Calibri"/>
                <a:sym typeface="Calibri"/>
              </a:rPr>
              <a:t>Where does the labelled data come from in the first place?</a:t>
            </a:r>
            <a:endParaRPr b="0" i="0" sz="1200" u="none" cap="none" strike="noStrike">
              <a:solidFill>
                <a:schemeClr val="dk1"/>
              </a:solidFill>
              <a:latin typeface="Calibri"/>
              <a:ea typeface="Calibri"/>
              <a:cs typeface="Calibri"/>
              <a:sym typeface="Calibri"/>
            </a:endParaRPr>
          </a:p>
        </p:txBody>
      </p:sp>
      <p:sp>
        <p:nvSpPr>
          <p:cNvPr id="56" name="Google Shape;56;p2"/>
          <p:cNvSpPr/>
          <p:nvPr/>
        </p:nvSpPr>
        <p:spPr>
          <a:xfrm>
            <a:off x="1600200" y="3694176"/>
            <a:ext cx="77724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1100"/>
              <a:buFont typeface="Calibri"/>
              <a:buNone/>
            </a:pPr>
            <a:r>
              <a:rPr b="0" i="0" lang="en-US" sz="1100" u="none" cap="none" strike="noStrike">
                <a:solidFill>
                  <a:srgbClr val="20262A"/>
                </a:solidFill>
                <a:latin typeface="Calibri"/>
                <a:ea typeface="Calibri"/>
                <a:cs typeface="Calibri"/>
                <a:sym typeface="Calibri"/>
              </a:rPr>
              <a:t>Extractive QA / BERT  →  synonyms  →  is-a relationships  →  negation  →  precision / recall / F1</a:t>
            </a:r>
            <a:endParaRPr b="0" i="0" sz="1100" u="none" cap="none" strike="noStrike">
              <a:solidFill>
                <a:schemeClr val="dk1"/>
              </a:solidFill>
              <a:latin typeface="Calibri"/>
              <a:ea typeface="Calibri"/>
              <a:cs typeface="Calibri"/>
              <a:sym typeface="Calibri"/>
            </a:endParaRPr>
          </a:p>
        </p:txBody>
      </p:sp>
      <p:sp>
        <p:nvSpPr>
          <p:cNvPr id="57" name="Google Shape;57;p2"/>
          <p:cNvSpPr/>
          <p:nvPr/>
        </p:nvSpPr>
        <p:spPr>
          <a:xfrm>
            <a:off x="9509760" y="3300984"/>
            <a:ext cx="1965960" cy="594360"/>
          </a:xfrm>
          <a:prstGeom prst="rect">
            <a:avLst/>
          </a:prstGeom>
          <a:noFill/>
          <a:ln>
            <a:noFill/>
          </a:ln>
        </p:spPr>
        <p:txBody>
          <a:bodyPr anchorCtr="0" anchor="ctr" bIns="0" lIns="0" spcFirstLastPara="1" rIns="0" wrap="square" tIns="0">
            <a:noAutofit/>
          </a:bodyPr>
          <a:lstStyle/>
          <a:p>
            <a:pPr indent="0" lvl="0" marL="0" marR="0" rtl="0" algn="r">
              <a:lnSpc>
                <a:spcPct val="142857"/>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Slides 17–27</a:t>
            </a:r>
            <a:endParaRPr b="0" i="0" sz="1050" u="none" cap="none" strike="noStrike">
              <a:solidFill>
                <a:schemeClr val="dk1"/>
              </a:solidFill>
              <a:latin typeface="Calibri"/>
              <a:ea typeface="Calibri"/>
              <a:cs typeface="Calibri"/>
              <a:sym typeface="Calibri"/>
            </a:endParaRPr>
          </a:p>
          <a:p>
            <a:pPr indent="0" lvl="0" marL="0" marR="0" rtl="0" algn="r">
              <a:lnSpc>
                <a:spcPct val="142857"/>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DEV 2 → BIZ 2</a:t>
            </a:r>
            <a:endParaRPr b="0" i="0" sz="1050" u="none" cap="none" strike="noStrike">
              <a:solidFill>
                <a:schemeClr val="dk1"/>
              </a:solidFill>
              <a:latin typeface="Calibri"/>
              <a:ea typeface="Calibri"/>
              <a:cs typeface="Calibri"/>
              <a:sym typeface="Calibri"/>
            </a:endParaRPr>
          </a:p>
        </p:txBody>
      </p:sp>
      <p:sp>
        <p:nvSpPr>
          <p:cNvPr id="58" name="Google Shape;58;p2"/>
          <p:cNvSpPr/>
          <p:nvPr/>
        </p:nvSpPr>
        <p:spPr>
          <a:xfrm>
            <a:off x="1600200" y="4215384"/>
            <a:ext cx="9875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0F"/>
              </a:buClr>
              <a:buSzPts val="1150"/>
              <a:buFont typeface="Calibri"/>
              <a:buNone/>
            </a:pPr>
            <a:r>
              <a:rPr b="1" i="0" lang="en-US" sz="1150" u="none" cap="none" strike="noStrike">
                <a:solidFill>
                  <a:srgbClr val="B4550F"/>
                </a:solidFill>
                <a:latin typeface="Calibri"/>
                <a:ea typeface="Calibri"/>
                <a:cs typeface="Calibri"/>
                <a:sym typeface="Calibri"/>
              </a:rPr>
              <a:t>↓   The model is now accurate but opaque — clinicians will not act on it and regulators will not approve it</a:t>
            </a:r>
            <a:endParaRPr b="0" i="0" sz="1150" u="none" cap="none" strike="noStrike">
              <a:solidFill>
                <a:schemeClr val="dk1"/>
              </a:solidFill>
              <a:latin typeface="Calibri"/>
              <a:ea typeface="Calibri"/>
              <a:cs typeface="Calibri"/>
              <a:sym typeface="Calibri"/>
            </a:endParaRPr>
          </a:p>
        </p:txBody>
      </p:sp>
      <p:sp>
        <p:nvSpPr>
          <p:cNvPr id="59" name="Google Shape;59;p2"/>
          <p:cNvSpPr/>
          <p:nvPr/>
        </p:nvSpPr>
        <p:spPr>
          <a:xfrm>
            <a:off x="502920" y="4608576"/>
            <a:ext cx="11155680" cy="1207008"/>
          </a:xfrm>
          <a:prstGeom prst="roundRect">
            <a:avLst>
              <a:gd fmla="val 5303"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777240" y="4892040"/>
            <a:ext cx="640080" cy="640080"/>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777240" y="48920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62" name="Google Shape;62;p2"/>
          <p:cNvSpPr/>
          <p:nvPr/>
        </p:nvSpPr>
        <p:spPr>
          <a:xfrm>
            <a:off x="1600200" y="4727448"/>
            <a:ext cx="6949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600"/>
              <a:buFont typeface="Calibri"/>
              <a:buNone/>
            </a:pPr>
            <a:r>
              <a:rPr b="1" i="0" lang="en-US" sz="1600" u="none" cap="none" strike="noStrike">
                <a:solidFill>
                  <a:srgbClr val="17313B"/>
                </a:solidFill>
                <a:latin typeface="Calibri"/>
                <a:ea typeface="Calibri"/>
                <a:cs typeface="Calibri"/>
                <a:sym typeface="Calibri"/>
              </a:rPr>
              <a:t>MODULE 3 · ML Interpretation</a:t>
            </a:r>
            <a:endParaRPr b="0" i="0" sz="1600" u="none" cap="none" strike="noStrike">
              <a:solidFill>
                <a:schemeClr val="dk1"/>
              </a:solidFill>
              <a:latin typeface="Calibri"/>
              <a:ea typeface="Calibri"/>
              <a:cs typeface="Calibri"/>
              <a:sym typeface="Calibri"/>
            </a:endParaRPr>
          </a:p>
        </p:txBody>
      </p:sp>
      <p:sp>
        <p:nvSpPr>
          <p:cNvPr id="63" name="Google Shape;63;p2"/>
          <p:cNvSpPr/>
          <p:nvPr/>
        </p:nvSpPr>
        <p:spPr>
          <a:xfrm>
            <a:off x="1600200" y="5020056"/>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200"/>
              <a:buFont typeface="Calibri"/>
              <a:buNone/>
            </a:pPr>
            <a:r>
              <a:rPr b="0" i="1" lang="en-US" sz="1200" u="none" cap="none" strike="noStrike">
                <a:solidFill>
                  <a:srgbClr val="1F6F7A"/>
                </a:solidFill>
                <a:latin typeface="Calibri"/>
                <a:ea typeface="Calibri"/>
                <a:cs typeface="Calibri"/>
                <a:sym typeface="Calibri"/>
              </a:rPr>
              <a:t>Why did the model predict this — and would a clinician trust it?</a:t>
            </a:r>
            <a:endParaRPr b="0" i="0" sz="1200" u="none" cap="none" strike="noStrike">
              <a:solidFill>
                <a:schemeClr val="dk1"/>
              </a:solidFill>
              <a:latin typeface="Calibri"/>
              <a:ea typeface="Calibri"/>
              <a:cs typeface="Calibri"/>
              <a:sym typeface="Calibri"/>
            </a:endParaRPr>
          </a:p>
        </p:txBody>
      </p:sp>
      <p:sp>
        <p:nvSpPr>
          <p:cNvPr id="64" name="Google Shape;64;p2"/>
          <p:cNvSpPr/>
          <p:nvPr/>
        </p:nvSpPr>
        <p:spPr>
          <a:xfrm>
            <a:off x="1600200" y="5321808"/>
            <a:ext cx="77724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1100"/>
              <a:buFont typeface="Calibri"/>
              <a:buNone/>
            </a:pPr>
            <a:r>
              <a:rPr b="0" i="0" lang="en-US" sz="1100" u="none" cap="none" strike="noStrike">
                <a:solidFill>
                  <a:srgbClr val="20262A"/>
                </a:solidFill>
                <a:latin typeface="Calibri"/>
                <a:ea typeface="Calibri"/>
                <a:cs typeface="Calibri"/>
                <a:sym typeface="Calibri"/>
              </a:rPr>
              <a:t>Drop column  →  permutation  →  individual importance  →  Shapley  →  localization map  →  heat map</a:t>
            </a:r>
            <a:endParaRPr b="0" i="0" sz="1100" u="none" cap="none" strike="noStrike">
              <a:solidFill>
                <a:schemeClr val="dk1"/>
              </a:solidFill>
              <a:latin typeface="Calibri"/>
              <a:ea typeface="Calibri"/>
              <a:cs typeface="Calibri"/>
              <a:sym typeface="Calibri"/>
            </a:endParaRPr>
          </a:p>
        </p:txBody>
      </p:sp>
      <p:sp>
        <p:nvSpPr>
          <p:cNvPr id="65" name="Google Shape;65;p2"/>
          <p:cNvSpPr/>
          <p:nvPr/>
        </p:nvSpPr>
        <p:spPr>
          <a:xfrm>
            <a:off x="9509760" y="4928616"/>
            <a:ext cx="1965960" cy="594360"/>
          </a:xfrm>
          <a:prstGeom prst="rect">
            <a:avLst/>
          </a:prstGeom>
          <a:noFill/>
          <a:ln>
            <a:noFill/>
          </a:ln>
        </p:spPr>
        <p:txBody>
          <a:bodyPr anchorCtr="0" anchor="ctr" bIns="0" lIns="0" spcFirstLastPara="1" rIns="0" wrap="square" tIns="0">
            <a:noAutofit/>
          </a:bodyPr>
          <a:lstStyle/>
          <a:p>
            <a:pPr indent="0" lvl="0" marL="0" marR="0" rtl="0" algn="r">
              <a:lnSpc>
                <a:spcPct val="142857"/>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Slides 28–37</a:t>
            </a:r>
            <a:endParaRPr b="0" i="0" sz="1050" u="none" cap="none" strike="noStrike">
              <a:solidFill>
                <a:schemeClr val="dk1"/>
              </a:solidFill>
              <a:latin typeface="Calibri"/>
              <a:ea typeface="Calibri"/>
              <a:cs typeface="Calibri"/>
              <a:sym typeface="Calibri"/>
            </a:endParaRPr>
          </a:p>
          <a:p>
            <a:pPr indent="0" lvl="0" marL="0" marR="0" rtl="0" algn="r">
              <a:lnSpc>
                <a:spcPct val="142857"/>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DEV 2 → BIZ 2 → DEV 1 → DEV 2</a:t>
            </a:r>
            <a:endParaRPr b="0" i="0" sz="1050" u="none" cap="none" strike="noStrike">
              <a:solidFill>
                <a:schemeClr val="dk1"/>
              </a:solidFill>
              <a:latin typeface="Calibri"/>
              <a:ea typeface="Calibri"/>
              <a:cs typeface="Calibri"/>
              <a:sym typeface="Calibri"/>
            </a:endParaRPr>
          </a:p>
        </p:txBody>
      </p:sp>
      <p:sp>
        <p:nvSpPr>
          <p:cNvPr id="66" name="Google Shape;66;p2"/>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67" name="Google Shape;67;p2"/>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p:nvPr/>
        </p:nvSpPr>
        <p:spPr>
          <a:xfrm>
            <a:off x="502920" y="45720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13B"/>
              </a:buClr>
              <a:buSzPts val="3400"/>
              <a:buFont typeface="Calibri"/>
              <a:buNone/>
            </a:pPr>
            <a:r>
              <a:rPr b="1" i="0" lang="en-US" sz="3400" u="none" cap="none" strike="noStrike">
                <a:solidFill>
                  <a:srgbClr val="17313B"/>
                </a:solidFill>
                <a:latin typeface="Calibri"/>
                <a:ea typeface="Calibri"/>
                <a:cs typeface="Calibri"/>
                <a:sym typeface="Calibri"/>
              </a:rPr>
              <a:t>Presentation Structure</a:t>
            </a:r>
            <a:endParaRPr b="0" i="0" sz="3400" u="none" cap="none" strike="noStrike">
              <a:solidFill>
                <a:schemeClr val="dk1"/>
              </a:solidFill>
              <a:latin typeface="Calibri"/>
              <a:ea typeface="Calibri"/>
              <a:cs typeface="Calibri"/>
              <a:sym typeface="Calibri"/>
            </a:endParaRPr>
          </a:p>
        </p:txBody>
      </p:sp>
      <p:sp>
        <p:nvSpPr>
          <p:cNvPr id="74" name="Google Shape;74;p3"/>
          <p:cNvSpPr/>
          <p:nvPr/>
        </p:nvSpPr>
        <p:spPr>
          <a:xfrm>
            <a:off x="502920" y="1078992"/>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A7F"/>
              </a:buClr>
              <a:buSzPts val="1400"/>
              <a:buFont typeface="Calibri"/>
              <a:buNone/>
            </a:pPr>
            <a:r>
              <a:rPr b="0" i="1" lang="en-US" sz="1400" u="none" cap="none" strike="noStrike">
                <a:solidFill>
                  <a:srgbClr val="6B7A7F"/>
                </a:solidFill>
                <a:latin typeface="Calibri"/>
                <a:ea typeface="Calibri"/>
                <a:cs typeface="Calibri"/>
                <a:sym typeface="Calibri"/>
              </a:rPr>
              <a:t>Following the course’s own three-module structure</a:t>
            </a:r>
            <a:endParaRPr b="0" i="0" sz="1400" u="none" cap="none" strike="noStrike">
              <a:solidFill>
                <a:schemeClr val="dk1"/>
              </a:solidFill>
              <a:latin typeface="Calibri"/>
              <a:ea typeface="Calibri"/>
              <a:cs typeface="Calibri"/>
              <a:sym typeface="Calibri"/>
            </a:endParaRPr>
          </a:p>
        </p:txBody>
      </p:sp>
      <p:sp>
        <p:nvSpPr>
          <p:cNvPr id="75" name="Google Shape;75;p3"/>
          <p:cNvSpPr/>
          <p:nvPr/>
        </p:nvSpPr>
        <p:spPr>
          <a:xfrm>
            <a:off x="502920" y="1691640"/>
            <a:ext cx="7589520" cy="1207008"/>
          </a:xfrm>
          <a:prstGeom prst="roundRect">
            <a:avLst>
              <a:gd fmla="val 6061"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777240" y="2002536"/>
            <a:ext cx="548640" cy="54864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777240" y="2002536"/>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78" name="Google Shape;78;p3"/>
          <p:cNvSpPr/>
          <p:nvPr/>
        </p:nvSpPr>
        <p:spPr>
          <a:xfrm>
            <a:off x="1508760" y="1810512"/>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700"/>
              <a:buFont typeface="Calibri"/>
              <a:buNone/>
            </a:pPr>
            <a:r>
              <a:rPr b="1" i="0" lang="en-US" sz="1700" u="none" cap="none" strike="noStrike">
                <a:solidFill>
                  <a:srgbClr val="17313B"/>
                </a:solidFill>
                <a:latin typeface="Calibri"/>
                <a:ea typeface="Calibri"/>
                <a:cs typeface="Calibri"/>
                <a:sym typeface="Calibri"/>
              </a:rPr>
              <a:t>Treatment Effect Estimation</a:t>
            </a:r>
            <a:endParaRPr b="0" i="0" sz="1700" u="none" cap="none" strike="noStrike">
              <a:solidFill>
                <a:schemeClr val="dk1"/>
              </a:solidFill>
              <a:latin typeface="Calibri"/>
              <a:ea typeface="Calibri"/>
              <a:cs typeface="Calibri"/>
              <a:sym typeface="Calibri"/>
            </a:endParaRPr>
          </a:p>
        </p:txBody>
      </p:sp>
      <p:sp>
        <p:nvSpPr>
          <p:cNvPr id="79" name="Google Shape;79;p3"/>
          <p:cNvSpPr/>
          <p:nvPr/>
        </p:nvSpPr>
        <p:spPr>
          <a:xfrm>
            <a:off x="1508760" y="2148840"/>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1150"/>
              <a:buFont typeface="Calibri"/>
              <a:buNone/>
            </a:pPr>
            <a:r>
              <a:rPr b="0" i="0" lang="en-US" sz="1150" u="none" cap="none" strike="noStrike">
                <a:solidFill>
                  <a:srgbClr val="6B7A7F"/>
                </a:solidFill>
                <a:latin typeface="Calibri"/>
                <a:ea typeface="Calibri"/>
                <a:cs typeface="Calibri"/>
                <a:sym typeface="Calibri"/>
              </a:rPr>
              <a:t>Week 1 · 12 videos  ·  BIZ 1 → DEV 1</a:t>
            </a:r>
            <a:endParaRPr b="0" i="0" sz="1150" u="none" cap="none" strike="noStrike">
              <a:solidFill>
                <a:schemeClr val="dk1"/>
              </a:solidFill>
              <a:latin typeface="Calibri"/>
              <a:ea typeface="Calibri"/>
              <a:cs typeface="Calibri"/>
              <a:sym typeface="Calibri"/>
            </a:endParaRPr>
          </a:p>
        </p:txBody>
      </p:sp>
      <p:sp>
        <p:nvSpPr>
          <p:cNvPr id="80" name="Google Shape;80;p3"/>
          <p:cNvSpPr/>
          <p:nvPr/>
        </p:nvSpPr>
        <p:spPr>
          <a:xfrm>
            <a:off x="1508760" y="2441448"/>
            <a:ext cx="635508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550F"/>
              </a:buClr>
              <a:buSzPts val="1050"/>
              <a:buFont typeface="Calibri"/>
              <a:buNone/>
            </a:pPr>
            <a:r>
              <a:rPr b="0" i="1" lang="en-US" sz="1050" u="none" cap="none" strike="noStrike">
                <a:solidFill>
                  <a:srgbClr val="B4550F"/>
                </a:solidFill>
                <a:latin typeface="Calibri"/>
                <a:ea typeface="Calibri"/>
                <a:cs typeface="Calibri"/>
                <a:sym typeface="Calibri"/>
              </a:rPr>
              <a:t>Depends on:  Independent — start here. Inside the module the slides build in a straight line.</a:t>
            </a:r>
            <a:endParaRPr b="0" i="0" sz="1050" u="none" cap="none" strike="noStrike">
              <a:solidFill>
                <a:schemeClr val="dk1"/>
              </a:solidFill>
              <a:latin typeface="Calibri"/>
              <a:ea typeface="Calibri"/>
              <a:cs typeface="Calibri"/>
              <a:sym typeface="Calibri"/>
            </a:endParaRPr>
          </a:p>
        </p:txBody>
      </p:sp>
      <p:sp>
        <p:nvSpPr>
          <p:cNvPr id="81" name="Google Shape;81;p3"/>
          <p:cNvSpPr/>
          <p:nvPr/>
        </p:nvSpPr>
        <p:spPr>
          <a:xfrm>
            <a:off x="502920" y="3017520"/>
            <a:ext cx="7589520" cy="1207008"/>
          </a:xfrm>
          <a:prstGeom prst="roundRect">
            <a:avLst>
              <a:gd fmla="val 6061"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777240" y="3328416"/>
            <a:ext cx="548640" cy="548640"/>
          </a:xfrm>
          <a:prstGeom prst="ellipse">
            <a:avLst/>
          </a:prstGeom>
          <a:solidFill>
            <a:srgbClr val="2E5A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777240" y="3328416"/>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84" name="Google Shape;84;p3"/>
          <p:cNvSpPr/>
          <p:nvPr/>
        </p:nvSpPr>
        <p:spPr>
          <a:xfrm>
            <a:off x="1508760" y="3136392"/>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700"/>
              <a:buFont typeface="Calibri"/>
              <a:buNone/>
            </a:pPr>
            <a:r>
              <a:rPr b="1" i="0" lang="en-US" sz="1700" u="none" cap="none" strike="noStrike">
                <a:solidFill>
                  <a:srgbClr val="17313B"/>
                </a:solidFill>
                <a:latin typeface="Calibri"/>
                <a:ea typeface="Calibri"/>
                <a:cs typeface="Calibri"/>
                <a:sym typeface="Calibri"/>
              </a:rPr>
              <a:t>Medical Question Answering</a:t>
            </a:r>
            <a:endParaRPr b="0" i="0" sz="1700" u="none" cap="none" strike="noStrike">
              <a:solidFill>
                <a:schemeClr val="dk1"/>
              </a:solidFill>
              <a:latin typeface="Calibri"/>
              <a:ea typeface="Calibri"/>
              <a:cs typeface="Calibri"/>
              <a:sym typeface="Calibri"/>
            </a:endParaRPr>
          </a:p>
        </p:txBody>
      </p:sp>
      <p:sp>
        <p:nvSpPr>
          <p:cNvPr id="85" name="Google Shape;85;p3"/>
          <p:cNvSpPr/>
          <p:nvPr/>
        </p:nvSpPr>
        <p:spPr>
          <a:xfrm>
            <a:off x="1508760" y="3474720"/>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1150"/>
              <a:buFont typeface="Calibri"/>
              <a:buNone/>
            </a:pPr>
            <a:r>
              <a:rPr b="0" i="0" lang="en-US" sz="1150" u="none" cap="none" strike="noStrike">
                <a:solidFill>
                  <a:srgbClr val="6B7A7F"/>
                </a:solidFill>
                <a:latin typeface="Calibri"/>
                <a:ea typeface="Calibri"/>
                <a:cs typeface="Calibri"/>
                <a:sym typeface="Calibri"/>
              </a:rPr>
              <a:t>Week 2 · 10 videos  ·  DEV 2 → BIZ 2</a:t>
            </a:r>
            <a:endParaRPr b="0" i="0" sz="1150" u="none" cap="none" strike="noStrike">
              <a:solidFill>
                <a:schemeClr val="dk1"/>
              </a:solidFill>
              <a:latin typeface="Calibri"/>
              <a:ea typeface="Calibri"/>
              <a:cs typeface="Calibri"/>
              <a:sym typeface="Calibri"/>
            </a:endParaRPr>
          </a:p>
        </p:txBody>
      </p:sp>
      <p:sp>
        <p:nvSpPr>
          <p:cNvPr id="86" name="Google Shape;86;p3"/>
          <p:cNvSpPr/>
          <p:nvPr/>
        </p:nvSpPr>
        <p:spPr>
          <a:xfrm>
            <a:off x="1508760" y="3767328"/>
            <a:ext cx="635508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5A8C"/>
              </a:buClr>
              <a:buSzPts val="1050"/>
              <a:buFont typeface="Calibri"/>
              <a:buNone/>
            </a:pPr>
            <a:r>
              <a:rPr b="0" i="1" lang="en-US" sz="1050" u="none" cap="none" strike="noStrike">
                <a:solidFill>
                  <a:srgbClr val="2E5A8C"/>
                </a:solidFill>
                <a:latin typeface="Calibri"/>
                <a:ea typeface="Calibri"/>
                <a:cs typeface="Calibri"/>
                <a:sym typeface="Calibri"/>
              </a:rPr>
              <a:t>Depends on:  Technically independent of Module 1, but it supplies the labelled data every model needs.</a:t>
            </a:r>
            <a:endParaRPr b="0" i="0" sz="1050" u="none" cap="none" strike="noStrike">
              <a:solidFill>
                <a:schemeClr val="dk1"/>
              </a:solidFill>
              <a:latin typeface="Calibri"/>
              <a:ea typeface="Calibri"/>
              <a:cs typeface="Calibri"/>
              <a:sym typeface="Calibri"/>
            </a:endParaRPr>
          </a:p>
        </p:txBody>
      </p:sp>
      <p:sp>
        <p:nvSpPr>
          <p:cNvPr id="87" name="Google Shape;87;p3"/>
          <p:cNvSpPr/>
          <p:nvPr/>
        </p:nvSpPr>
        <p:spPr>
          <a:xfrm>
            <a:off x="502920" y="4343400"/>
            <a:ext cx="7589520" cy="1207008"/>
          </a:xfrm>
          <a:prstGeom prst="roundRect">
            <a:avLst>
              <a:gd fmla="val 6061"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777240" y="4654296"/>
            <a:ext cx="548640" cy="548640"/>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777240" y="4654296"/>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90" name="Google Shape;90;p3"/>
          <p:cNvSpPr/>
          <p:nvPr/>
        </p:nvSpPr>
        <p:spPr>
          <a:xfrm>
            <a:off x="1508760" y="4462272"/>
            <a:ext cx="4754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700"/>
              <a:buFont typeface="Calibri"/>
              <a:buNone/>
            </a:pPr>
            <a:r>
              <a:rPr b="1" i="0" lang="en-US" sz="1700" u="none" cap="none" strike="noStrike">
                <a:solidFill>
                  <a:srgbClr val="17313B"/>
                </a:solidFill>
                <a:latin typeface="Calibri"/>
                <a:ea typeface="Calibri"/>
                <a:cs typeface="Calibri"/>
                <a:sym typeface="Calibri"/>
              </a:rPr>
              <a:t>ML Interpretation</a:t>
            </a:r>
            <a:endParaRPr b="0" i="0" sz="1700" u="none" cap="none" strike="noStrike">
              <a:solidFill>
                <a:schemeClr val="dk1"/>
              </a:solidFill>
              <a:latin typeface="Calibri"/>
              <a:ea typeface="Calibri"/>
              <a:cs typeface="Calibri"/>
              <a:sym typeface="Calibri"/>
            </a:endParaRPr>
          </a:p>
        </p:txBody>
      </p:sp>
      <p:sp>
        <p:nvSpPr>
          <p:cNvPr id="91" name="Google Shape;91;p3"/>
          <p:cNvSpPr/>
          <p:nvPr/>
        </p:nvSpPr>
        <p:spPr>
          <a:xfrm>
            <a:off x="1508760" y="4800600"/>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1150"/>
              <a:buFont typeface="Calibri"/>
              <a:buNone/>
            </a:pPr>
            <a:r>
              <a:rPr b="0" i="0" lang="en-US" sz="1150" u="none" cap="none" strike="noStrike">
                <a:solidFill>
                  <a:srgbClr val="6B7A7F"/>
                </a:solidFill>
                <a:latin typeface="Calibri"/>
                <a:ea typeface="Calibri"/>
                <a:cs typeface="Calibri"/>
                <a:sym typeface="Calibri"/>
              </a:rPr>
              <a:t>Week 3 · 9 videos  ·  DEV 2 → BIZ 2 → DEV 1 → DEV 2</a:t>
            </a:r>
            <a:endParaRPr b="0" i="0" sz="1150" u="none" cap="none" strike="noStrike">
              <a:solidFill>
                <a:schemeClr val="dk1"/>
              </a:solidFill>
              <a:latin typeface="Calibri"/>
              <a:ea typeface="Calibri"/>
              <a:cs typeface="Calibri"/>
              <a:sym typeface="Calibri"/>
            </a:endParaRPr>
          </a:p>
        </p:txBody>
      </p:sp>
      <p:sp>
        <p:nvSpPr>
          <p:cNvPr id="92" name="Google Shape;92;p3"/>
          <p:cNvSpPr/>
          <p:nvPr/>
        </p:nvSpPr>
        <p:spPr>
          <a:xfrm>
            <a:off x="1508760" y="5093208"/>
            <a:ext cx="635508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6F7A"/>
              </a:buClr>
              <a:buSzPts val="1050"/>
              <a:buFont typeface="Calibri"/>
              <a:buNone/>
            </a:pPr>
            <a:r>
              <a:rPr b="0" i="1" lang="en-US" sz="1050" u="none" cap="none" strike="noStrike">
                <a:solidFill>
                  <a:srgbClr val="1F6F7A"/>
                </a:solidFill>
                <a:latin typeface="Calibri"/>
                <a:ea typeface="Calibri"/>
                <a:cs typeface="Calibri"/>
                <a:sym typeface="Calibri"/>
              </a:rPr>
              <a:t>Depends on:  Applies to the structured-data models of Course 2 and the image models of Course 1.</a:t>
            </a:r>
            <a:endParaRPr b="0" i="0" sz="1050" u="none" cap="none" strike="noStrike">
              <a:solidFill>
                <a:schemeClr val="dk1"/>
              </a:solidFill>
              <a:latin typeface="Calibri"/>
              <a:ea typeface="Calibri"/>
              <a:cs typeface="Calibri"/>
              <a:sym typeface="Calibri"/>
            </a:endParaRPr>
          </a:p>
        </p:txBody>
      </p:sp>
      <p:sp>
        <p:nvSpPr>
          <p:cNvPr id="93" name="Google Shape;93;p3"/>
          <p:cNvSpPr/>
          <p:nvPr/>
        </p:nvSpPr>
        <p:spPr>
          <a:xfrm>
            <a:off x="8366760" y="1691640"/>
            <a:ext cx="3291840" cy="3749040"/>
          </a:xfrm>
          <a:prstGeom prst="roundRect">
            <a:avLst>
              <a:gd fmla="val 2222" name="adj"/>
            </a:avLst>
          </a:prstGeom>
          <a:solidFill>
            <a:srgbClr val="17313B"/>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8641080" y="187452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C4CC"/>
              </a:buClr>
              <a:buSzPts val="1100"/>
              <a:buFont typeface="Calibri"/>
              <a:buNone/>
            </a:pPr>
            <a:r>
              <a:rPr b="1" i="0" lang="en-US" sz="1100" u="none" cap="none" strike="noStrike">
                <a:solidFill>
                  <a:srgbClr val="9FC4CC"/>
                </a:solidFill>
                <a:latin typeface="Calibri"/>
                <a:ea typeface="Calibri"/>
                <a:cs typeface="Calibri"/>
                <a:sym typeface="Calibri"/>
              </a:rPr>
              <a:t>TIME ALLOCATION</a:t>
            </a:r>
            <a:endParaRPr b="0" i="0" sz="1100" u="none" cap="none" strike="noStrike">
              <a:solidFill>
                <a:schemeClr val="dk1"/>
              </a:solidFill>
              <a:latin typeface="Calibri"/>
              <a:ea typeface="Calibri"/>
              <a:cs typeface="Calibri"/>
              <a:sym typeface="Calibri"/>
            </a:endParaRPr>
          </a:p>
        </p:txBody>
      </p:sp>
      <p:sp>
        <p:nvSpPr>
          <p:cNvPr id="95" name="Google Shape;95;p3"/>
          <p:cNvSpPr/>
          <p:nvPr/>
        </p:nvSpPr>
        <p:spPr>
          <a:xfrm>
            <a:off x="8641080" y="2286000"/>
            <a:ext cx="384048" cy="384048"/>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8641080" y="22860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B1</a:t>
            </a:r>
            <a:endParaRPr b="0" i="0" sz="1100" u="none" cap="none" strike="noStrike">
              <a:solidFill>
                <a:schemeClr val="dk1"/>
              </a:solidFill>
              <a:latin typeface="Calibri"/>
              <a:ea typeface="Calibri"/>
              <a:cs typeface="Calibri"/>
              <a:sym typeface="Calibri"/>
            </a:endParaRPr>
          </a:p>
        </p:txBody>
      </p:sp>
      <p:sp>
        <p:nvSpPr>
          <p:cNvPr id="97" name="Google Shape;97;p3"/>
          <p:cNvSpPr/>
          <p:nvPr/>
        </p:nvSpPr>
        <p:spPr>
          <a:xfrm>
            <a:off x="9144000" y="2286000"/>
            <a:ext cx="1188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BIZ 1</a:t>
            </a:r>
            <a:endParaRPr b="0" i="0" sz="1300" u="none" cap="none" strike="noStrike">
              <a:solidFill>
                <a:schemeClr val="dk1"/>
              </a:solidFill>
              <a:latin typeface="Calibri"/>
              <a:ea typeface="Calibri"/>
              <a:cs typeface="Calibri"/>
              <a:sym typeface="Calibri"/>
            </a:endParaRPr>
          </a:p>
        </p:txBody>
      </p:sp>
      <p:sp>
        <p:nvSpPr>
          <p:cNvPr id="98" name="Google Shape;98;p3"/>
          <p:cNvSpPr/>
          <p:nvPr/>
        </p:nvSpPr>
        <p:spPr>
          <a:xfrm>
            <a:off x="10241280" y="2286000"/>
            <a:ext cx="1188720"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C4CC"/>
              </a:buClr>
              <a:buSzPts val="1300"/>
              <a:buFont typeface="Calibri"/>
              <a:buNone/>
            </a:pPr>
            <a:r>
              <a:rPr b="1" i="0" lang="en-US" sz="1300" u="none" cap="none" strike="noStrike">
                <a:solidFill>
                  <a:srgbClr val="9FC4CC"/>
                </a:solidFill>
                <a:latin typeface="Calibri"/>
                <a:ea typeface="Calibri"/>
                <a:cs typeface="Calibri"/>
                <a:sym typeface="Calibri"/>
              </a:rPr>
              <a:t>10 min</a:t>
            </a:r>
            <a:endParaRPr b="0" i="0" sz="1300" u="none" cap="none" strike="noStrike">
              <a:solidFill>
                <a:schemeClr val="dk1"/>
              </a:solidFill>
              <a:latin typeface="Calibri"/>
              <a:ea typeface="Calibri"/>
              <a:cs typeface="Calibri"/>
              <a:sym typeface="Calibri"/>
            </a:endParaRPr>
          </a:p>
        </p:txBody>
      </p:sp>
      <p:sp>
        <p:nvSpPr>
          <p:cNvPr id="99" name="Google Shape;99;p3"/>
          <p:cNvSpPr/>
          <p:nvPr/>
        </p:nvSpPr>
        <p:spPr>
          <a:xfrm>
            <a:off x="8641080" y="2852928"/>
            <a:ext cx="384048" cy="384048"/>
          </a:xfrm>
          <a:prstGeom prst="ellipse">
            <a:avLst/>
          </a:prstGeom>
          <a:solidFill>
            <a:srgbClr val="8C6D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8641080" y="28529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B2</a:t>
            </a:r>
            <a:endParaRPr b="0" i="0" sz="1100" u="none" cap="none" strike="noStrike">
              <a:solidFill>
                <a:schemeClr val="dk1"/>
              </a:solidFill>
              <a:latin typeface="Calibri"/>
              <a:ea typeface="Calibri"/>
              <a:cs typeface="Calibri"/>
              <a:sym typeface="Calibri"/>
            </a:endParaRPr>
          </a:p>
        </p:txBody>
      </p:sp>
      <p:sp>
        <p:nvSpPr>
          <p:cNvPr id="101" name="Google Shape;101;p3"/>
          <p:cNvSpPr/>
          <p:nvPr/>
        </p:nvSpPr>
        <p:spPr>
          <a:xfrm>
            <a:off x="9144000" y="2852928"/>
            <a:ext cx="1188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BIZ 2</a:t>
            </a:r>
            <a:endParaRPr b="0" i="0" sz="1300" u="none" cap="none" strike="noStrike">
              <a:solidFill>
                <a:schemeClr val="dk1"/>
              </a:solidFill>
              <a:latin typeface="Calibri"/>
              <a:ea typeface="Calibri"/>
              <a:cs typeface="Calibri"/>
              <a:sym typeface="Calibri"/>
            </a:endParaRPr>
          </a:p>
        </p:txBody>
      </p:sp>
      <p:sp>
        <p:nvSpPr>
          <p:cNvPr id="102" name="Google Shape;102;p3"/>
          <p:cNvSpPr/>
          <p:nvPr/>
        </p:nvSpPr>
        <p:spPr>
          <a:xfrm>
            <a:off x="10241280" y="2852928"/>
            <a:ext cx="1188720"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C4CC"/>
              </a:buClr>
              <a:buSzPts val="1300"/>
              <a:buFont typeface="Calibri"/>
              <a:buNone/>
            </a:pPr>
            <a:r>
              <a:rPr b="1" i="0" lang="en-US" sz="1300" u="none" cap="none" strike="noStrike">
                <a:solidFill>
                  <a:srgbClr val="9FC4CC"/>
                </a:solidFill>
                <a:latin typeface="Calibri"/>
                <a:ea typeface="Calibri"/>
                <a:cs typeface="Calibri"/>
                <a:sym typeface="Calibri"/>
              </a:rPr>
              <a:t>11 min</a:t>
            </a:r>
            <a:endParaRPr b="0" i="0" sz="1300" u="none" cap="none" strike="noStrike">
              <a:solidFill>
                <a:schemeClr val="dk1"/>
              </a:solidFill>
              <a:latin typeface="Calibri"/>
              <a:ea typeface="Calibri"/>
              <a:cs typeface="Calibri"/>
              <a:sym typeface="Calibri"/>
            </a:endParaRPr>
          </a:p>
        </p:txBody>
      </p:sp>
      <p:sp>
        <p:nvSpPr>
          <p:cNvPr id="103" name="Google Shape;103;p3"/>
          <p:cNvSpPr/>
          <p:nvPr/>
        </p:nvSpPr>
        <p:spPr>
          <a:xfrm>
            <a:off x="8641080" y="3419856"/>
            <a:ext cx="384048" cy="384048"/>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8641080" y="341985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D1</a:t>
            </a:r>
            <a:endParaRPr b="0" i="0" sz="1100" u="none" cap="none" strike="noStrike">
              <a:solidFill>
                <a:schemeClr val="dk1"/>
              </a:solidFill>
              <a:latin typeface="Calibri"/>
              <a:ea typeface="Calibri"/>
              <a:cs typeface="Calibri"/>
              <a:sym typeface="Calibri"/>
            </a:endParaRPr>
          </a:p>
        </p:txBody>
      </p:sp>
      <p:sp>
        <p:nvSpPr>
          <p:cNvPr id="105" name="Google Shape;105;p3"/>
          <p:cNvSpPr/>
          <p:nvPr/>
        </p:nvSpPr>
        <p:spPr>
          <a:xfrm>
            <a:off x="9144000" y="3419856"/>
            <a:ext cx="1188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DEV 1</a:t>
            </a:r>
            <a:endParaRPr b="0" i="0" sz="1300" u="none" cap="none" strike="noStrike">
              <a:solidFill>
                <a:schemeClr val="dk1"/>
              </a:solidFill>
              <a:latin typeface="Calibri"/>
              <a:ea typeface="Calibri"/>
              <a:cs typeface="Calibri"/>
              <a:sym typeface="Calibri"/>
            </a:endParaRPr>
          </a:p>
        </p:txBody>
      </p:sp>
      <p:sp>
        <p:nvSpPr>
          <p:cNvPr id="106" name="Google Shape;106;p3"/>
          <p:cNvSpPr/>
          <p:nvPr/>
        </p:nvSpPr>
        <p:spPr>
          <a:xfrm>
            <a:off x="10241280" y="3419856"/>
            <a:ext cx="1188720"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C4CC"/>
              </a:buClr>
              <a:buSzPts val="1300"/>
              <a:buFont typeface="Calibri"/>
              <a:buNone/>
            </a:pPr>
            <a:r>
              <a:rPr b="1" i="0" lang="en-US" sz="1300" u="none" cap="none" strike="noStrike">
                <a:solidFill>
                  <a:srgbClr val="9FC4CC"/>
                </a:solidFill>
                <a:latin typeface="Calibri"/>
                <a:ea typeface="Calibri"/>
                <a:cs typeface="Calibri"/>
                <a:sym typeface="Calibri"/>
              </a:rPr>
              <a:t>9.5 min</a:t>
            </a:r>
            <a:endParaRPr b="0" i="0" sz="1300" u="none" cap="none" strike="noStrike">
              <a:solidFill>
                <a:schemeClr val="dk1"/>
              </a:solidFill>
              <a:latin typeface="Calibri"/>
              <a:ea typeface="Calibri"/>
              <a:cs typeface="Calibri"/>
              <a:sym typeface="Calibri"/>
            </a:endParaRPr>
          </a:p>
        </p:txBody>
      </p:sp>
      <p:sp>
        <p:nvSpPr>
          <p:cNvPr id="107" name="Google Shape;107;p3"/>
          <p:cNvSpPr/>
          <p:nvPr/>
        </p:nvSpPr>
        <p:spPr>
          <a:xfrm>
            <a:off x="8641080" y="3986784"/>
            <a:ext cx="384048" cy="384048"/>
          </a:xfrm>
          <a:prstGeom prst="ellipse">
            <a:avLst/>
          </a:prstGeom>
          <a:solidFill>
            <a:srgbClr val="2E5A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8641080" y="398678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D2</a:t>
            </a:r>
            <a:endParaRPr b="0" i="0" sz="1100" u="none" cap="none" strike="noStrike">
              <a:solidFill>
                <a:schemeClr val="dk1"/>
              </a:solidFill>
              <a:latin typeface="Calibri"/>
              <a:ea typeface="Calibri"/>
              <a:cs typeface="Calibri"/>
              <a:sym typeface="Calibri"/>
            </a:endParaRPr>
          </a:p>
        </p:txBody>
      </p:sp>
      <p:sp>
        <p:nvSpPr>
          <p:cNvPr id="109" name="Google Shape;109;p3"/>
          <p:cNvSpPr/>
          <p:nvPr/>
        </p:nvSpPr>
        <p:spPr>
          <a:xfrm>
            <a:off x="9144000" y="3986784"/>
            <a:ext cx="1188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DEV 2</a:t>
            </a:r>
            <a:endParaRPr b="0" i="0" sz="1300" u="none" cap="none" strike="noStrike">
              <a:solidFill>
                <a:schemeClr val="dk1"/>
              </a:solidFill>
              <a:latin typeface="Calibri"/>
              <a:ea typeface="Calibri"/>
              <a:cs typeface="Calibri"/>
              <a:sym typeface="Calibri"/>
            </a:endParaRPr>
          </a:p>
        </p:txBody>
      </p:sp>
      <p:sp>
        <p:nvSpPr>
          <p:cNvPr id="110" name="Google Shape;110;p3"/>
          <p:cNvSpPr/>
          <p:nvPr/>
        </p:nvSpPr>
        <p:spPr>
          <a:xfrm>
            <a:off x="10241280" y="3986784"/>
            <a:ext cx="1188720"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C4CC"/>
              </a:buClr>
              <a:buSzPts val="1300"/>
              <a:buFont typeface="Calibri"/>
              <a:buNone/>
            </a:pPr>
            <a:r>
              <a:rPr b="1" i="0" lang="en-US" sz="1300" u="none" cap="none" strike="noStrike">
                <a:solidFill>
                  <a:srgbClr val="9FC4CC"/>
                </a:solidFill>
                <a:latin typeface="Calibri"/>
                <a:ea typeface="Calibri"/>
                <a:cs typeface="Calibri"/>
                <a:sym typeface="Calibri"/>
              </a:rPr>
              <a:t>9.5 min</a:t>
            </a:r>
            <a:endParaRPr b="0" i="0" sz="1300" u="none" cap="none" strike="noStrike">
              <a:solidFill>
                <a:schemeClr val="dk1"/>
              </a:solidFill>
              <a:latin typeface="Calibri"/>
              <a:ea typeface="Calibri"/>
              <a:cs typeface="Calibri"/>
              <a:sym typeface="Calibri"/>
            </a:endParaRPr>
          </a:p>
        </p:txBody>
      </p:sp>
      <p:sp>
        <p:nvSpPr>
          <p:cNvPr id="111" name="Google Shape;111;p3"/>
          <p:cNvSpPr/>
          <p:nvPr/>
        </p:nvSpPr>
        <p:spPr>
          <a:xfrm>
            <a:off x="8641080" y="47548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Total 40 min</a:t>
            </a:r>
            <a:endParaRPr b="0" i="0" sz="1400" u="none" cap="none" strike="noStrike">
              <a:solidFill>
                <a:schemeClr val="dk1"/>
              </a:solidFill>
              <a:latin typeface="Calibri"/>
              <a:ea typeface="Calibri"/>
              <a:cs typeface="Calibri"/>
              <a:sym typeface="Calibri"/>
            </a:endParaRPr>
          </a:p>
        </p:txBody>
      </p:sp>
      <p:sp>
        <p:nvSpPr>
          <p:cNvPr id="112" name="Google Shape;112;p3"/>
          <p:cNvSpPr/>
          <p:nvPr/>
        </p:nvSpPr>
        <p:spPr>
          <a:xfrm>
            <a:off x="8641080" y="507492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A7B0"/>
              </a:buClr>
              <a:buSzPts val="1100"/>
              <a:buFont typeface="Calibri"/>
              <a:buNone/>
            </a:pPr>
            <a:r>
              <a:rPr b="0" i="0" lang="en-US" sz="1100" u="none" cap="none" strike="noStrike">
                <a:solidFill>
                  <a:srgbClr val="7FA7B0"/>
                </a:solidFill>
                <a:latin typeface="Calibri"/>
                <a:ea typeface="Calibri"/>
                <a:cs typeface="Calibri"/>
                <a:sym typeface="Calibri"/>
              </a:rPr>
              <a:t>+ 10 min Q&amp;A</a:t>
            </a:r>
            <a:endParaRPr b="0" i="0" sz="1100" u="none" cap="none" strike="noStrike">
              <a:solidFill>
                <a:schemeClr val="dk1"/>
              </a:solidFill>
              <a:latin typeface="Calibri"/>
              <a:ea typeface="Calibri"/>
              <a:cs typeface="Calibri"/>
              <a:sym typeface="Calibri"/>
            </a:endParaRPr>
          </a:p>
        </p:txBody>
      </p:sp>
      <p:sp>
        <p:nvSpPr>
          <p:cNvPr id="113" name="Google Shape;113;p3"/>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114" name="Google Shape;114;p3"/>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p:nvPr/>
        </p:nvSpPr>
        <p:spPr>
          <a:xfrm>
            <a:off x="502920" y="32004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0F"/>
              </a:buClr>
              <a:buSzPts val="1100"/>
              <a:buFont typeface="Calibri"/>
              <a:buNone/>
            </a:pPr>
            <a:r>
              <a:rPr b="1" i="0" lang="en-US" sz="1100" u="none" cap="none" strike="noStrike">
                <a:solidFill>
                  <a:srgbClr val="B4550F"/>
                </a:solidFill>
                <a:latin typeface="Calibri"/>
                <a:ea typeface="Calibri"/>
                <a:cs typeface="Calibri"/>
                <a:sym typeface="Calibri"/>
              </a:rPr>
              <a:t>INTERNAL SLIDE — HIDE BEFORE PRESENTING</a:t>
            </a:r>
            <a:endParaRPr b="0" i="0" sz="1100" u="none" cap="none" strike="noStrike">
              <a:solidFill>
                <a:schemeClr val="dk1"/>
              </a:solidFill>
              <a:latin typeface="Calibri"/>
              <a:ea typeface="Calibri"/>
              <a:cs typeface="Calibri"/>
              <a:sym typeface="Calibri"/>
            </a:endParaRPr>
          </a:p>
        </p:txBody>
      </p:sp>
      <p:sp>
        <p:nvSpPr>
          <p:cNvPr id="121" name="Google Shape;121;p4"/>
          <p:cNvSpPr/>
          <p:nvPr/>
        </p:nvSpPr>
        <p:spPr>
          <a:xfrm>
            <a:off x="502920" y="621792"/>
            <a:ext cx="7772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Assignment by Capability</a:t>
            </a:r>
            <a:endParaRPr b="0" i="0" sz="3000" u="none" cap="none" strike="noStrike">
              <a:solidFill>
                <a:schemeClr val="dk1"/>
              </a:solidFill>
              <a:latin typeface="Calibri"/>
              <a:ea typeface="Calibri"/>
              <a:cs typeface="Calibri"/>
              <a:sym typeface="Calibri"/>
            </a:endParaRPr>
          </a:p>
        </p:txBody>
      </p:sp>
      <p:sp>
        <p:nvSpPr>
          <p:cNvPr id="122" name="Google Shape;122;p4"/>
          <p:cNvSpPr/>
          <p:nvPr/>
        </p:nvSpPr>
        <p:spPr>
          <a:xfrm>
            <a:off x="502920" y="1188720"/>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1100"/>
              <a:buFont typeface="Calibri"/>
              <a:buNone/>
            </a:pPr>
            <a:r>
              <a:rPr b="0" i="0" lang="en-US" sz="1100" u="none" cap="none" strike="noStrike">
                <a:solidFill>
                  <a:srgbClr val="6B7A7F"/>
                </a:solidFill>
                <a:latin typeface="Calibri"/>
                <a:ea typeface="Calibri"/>
                <a:cs typeface="Calibri"/>
                <a:sym typeface="Calibri"/>
              </a:rPr>
              <a:t>Technical level:  ●○○ no ML background needed   ·   ●●○ notation or technical detail, still explainable in words — needs a developer on Q&amp;A   ·   ●●● real ML background needed</a:t>
            </a:r>
            <a:endParaRPr b="0" i="0" sz="1100" u="none" cap="none" strike="noStrike">
              <a:solidFill>
                <a:schemeClr val="dk1"/>
              </a:solidFill>
              <a:latin typeface="Calibri"/>
              <a:ea typeface="Calibri"/>
              <a:cs typeface="Calibri"/>
              <a:sym typeface="Calibri"/>
            </a:endParaRPr>
          </a:p>
        </p:txBody>
      </p:sp>
      <p:sp>
        <p:nvSpPr>
          <p:cNvPr id="123" name="Google Shape;123;p4"/>
          <p:cNvSpPr/>
          <p:nvPr/>
        </p:nvSpPr>
        <p:spPr>
          <a:xfrm>
            <a:off x="502920" y="1627632"/>
            <a:ext cx="11155680" cy="804672"/>
          </a:xfrm>
          <a:prstGeom prst="roundRect">
            <a:avLst>
              <a:gd fmla="val 6818"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749808" y="1801368"/>
            <a:ext cx="457200" cy="45720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749808" y="18013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B1</a:t>
            </a:r>
            <a:endParaRPr b="0" i="0" sz="1300" u="none" cap="none" strike="noStrike">
              <a:solidFill>
                <a:schemeClr val="dk1"/>
              </a:solidFill>
              <a:latin typeface="Calibri"/>
              <a:ea typeface="Calibri"/>
              <a:cs typeface="Calibri"/>
              <a:sym typeface="Calibri"/>
            </a:endParaRPr>
          </a:p>
        </p:txBody>
      </p:sp>
      <p:sp>
        <p:nvSpPr>
          <p:cNvPr id="126" name="Google Shape;126;p4"/>
          <p:cNvSpPr/>
          <p:nvPr/>
        </p:nvSpPr>
        <p:spPr>
          <a:xfrm>
            <a:off x="1371600" y="1728216"/>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400"/>
              <a:buFont typeface="Calibri"/>
              <a:buNone/>
            </a:pPr>
            <a:r>
              <a:rPr b="1" i="0" lang="en-US" sz="1400" u="none" cap="none" strike="noStrike">
                <a:solidFill>
                  <a:srgbClr val="17313B"/>
                </a:solidFill>
                <a:latin typeface="Calibri"/>
                <a:ea typeface="Calibri"/>
                <a:cs typeface="Calibri"/>
                <a:sym typeface="Calibri"/>
              </a:rPr>
              <a:t>BIZ 1</a:t>
            </a:r>
            <a:endParaRPr b="0" i="0" sz="1400" u="none" cap="none" strike="noStrike">
              <a:solidFill>
                <a:schemeClr val="dk1"/>
              </a:solidFill>
              <a:latin typeface="Calibri"/>
              <a:ea typeface="Calibri"/>
              <a:cs typeface="Calibri"/>
              <a:sym typeface="Calibri"/>
            </a:endParaRPr>
          </a:p>
        </p:txBody>
      </p:sp>
      <p:sp>
        <p:nvSpPr>
          <p:cNvPr id="127" name="Google Shape;127;p4"/>
          <p:cNvSpPr/>
          <p:nvPr/>
        </p:nvSpPr>
        <p:spPr>
          <a:xfrm>
            <a:off x="1371600" y="2020824"/>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0" lang="en-US" sz="950" u="none" cap="none" strike="noStrike">
                <a:solidFill>
                  <a:srgbClr val="6B7A7F"/>
                </a:solidFill>
                <a:latin typeface="Calibri"/>
                <a:ea typeface="Calibri"/>
                <a:cs typeface="Calibri"/>
                <a:sym typeface="Calibri"/>
              </a:rPr>
              <a:t>Clinical and statistical foundation</a:t>
            </a:r>
            <a:endParaRPr b="0" i="0" sz="950" u="none" cap="none" strike="noStrike">
              <a:solidFill>
                <a:schemeClr val="dk1"/>
              </a:solidFill>
              <a:latin typeface="Calibri"/>
              <a:ea typeface="Calibri"/>
              <a:cs typeface="Calibri"/>
              <a:sym typeface="Calibri"/>
            </a:endParaRPr>
          </a:p>
        </p:txBody>
      </p:sp>
      <p:sp>
        <p:nvSpPr>
          <p:cNvPr id="128" name="Google Shape;128;p4"/>
          <p:cNvSpPr/>
          <p:nvPr/>
        </p:nvSpPr>
        <p:spPr>
          <a:xfrm>
            <a:off x="3977640" y="1764792"/>
            <a:ext cx="4846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62A"/>
              </a:buClr>
              <a:buSzPts val="1100"/>
              <a:buFont typeface="Calibri"/>
              <a:buNone/>
            </a:pPr>
            <a:r>
              <a:rPr b="0" i="0" lang="en-US" sz="1100" u="none" cap="none" strike="noStrike">
                <a:solidFill>
                  <a:srgbClr val="20262A"/>
                </a:solidFill>
                <a:latin typeface="Calibri"/>
                <a:ea typeface="Calibri"/>
                <a:cs typeface="Calibri"/>
                <a:sym typeface="Calibri"/>
              </a:rPr>
              <a:t>Logic flow · Module 1 videos 1–7 (ARR → CATE) · Conclusion</a:t>
            </a:r>
            <a:endParaRPr b="0" i="0" sz="1100" u="none" cap="none" strike="noStrike">
              <a:solidFill>
                <a:schemeClr val="dk1"/>
              </a:solidFill>
              <a:latin typeface="Calibri"/>
              <a:ea typeface="Calibri"/>
              <a:cs typeface="Calibri"/>
              <a:sym typeface="Calibri"/>
            </a:endParaRPr>
          </a:p>
        </p:txBody>
      </p:sp>
      <p:sp>
        <p:nvSpPr>
          <p:cNvPr id="129" name="Google Shape;129;p4"/>
          <p:cNvSpPr/>
          <p:nvPr/>
        </p:nvSpPr>
        <p:spPr>
          <a:xfrm>
            <a:off x="8915400" y="174650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0F"/>
              </a:buClr>
              <a:buSzPts val="1050"/>
              <a:buFont typeface="Calibri"/>
              <a:buNone/>
            </a:pPr>
            <a:r>
              <a:rPr b="1" i="0" lang="en-US" sz="1050" u="none" cap="none" strike="noStrike">
                <a:solidFill>
                  <a:srgbClr val="B4550F"/>
                </a:solidFill>
                <a:latin typeface="Calibri"/>
                <a:ea typeface="Calibri"/>
                <a:cs typeface="Calibri"/>
                <a:sym typeface="Calibri"/>
              </a:rPr>
              <a:t>Max level  ●●○</a:t>
            </a:r>
            <a:endParaRPr b="0" i="0" sz="1050" u="none" cap="none" strike="noStrike">
              <a:solidFill>
                <a:schemeClr val="dk1"/>
              </a:solidFill>
              <a:latin typeface="Calibri"/>
              <a:ea typeface="Calibri"/>
              <a:cs typeface="Calibri"/>
              <a:sym typeface="Calibri"/>
            </a:endParaRPr>
          </a:p>
        </p:txBody>
      </p:sp>
      <p:sp>
        <p:nvSpPr>
          <p:cNvPr id="130" name="Google Shape;130;p4"/>
          <p:cNvSpPr/>
          <p:nvPr/>
        </p:nvSpPr>
        <p:spPr>
          <a:xfrm>
            <a:off x="8915400" y="202082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0" lang="en-US" sz="950" u="none" cap="none" strike="noStrike">
                <a:solidFill>
                  <a:srgbClr val="6B7A7F"/>
                </a:solidFill>
                <a:latin typeface="Calibri"/>
                <a:ea typeface="Calibri"/>
                <a:cs typeface="Calibri"/>
                <a:sym typeface="Calibri"/>
              </a:rPr>
              <a:t>DEV 1 backs Q&amp;A</a:t>
            </a:r>
            <a:endParaRPr b="0" i="0" sz="950" u="none" cap="none" strike="noStrike">
              <a:solidFill>
                <a:schemeClr val="dk1"/>
              </a:solidFill>
              <a:latin typeface="Calibri"/>
              <a:ea typeface="Calibri"/>
              <a:cs typeface="Calibri"/>
              <a:sym typeface="Calibri"/>
            </a:endParaRPr>
          </a:p>
        </p:txBody>
      </p:sp>
      <p:sp>
        <p:nvSpPr>
          <p:cNvPr id="131" name="Google Shape;131;p4"/>
          <p:cNvSpPr/>
          <p:nvPr/>
        </p:nvSpPr>
        <p:spPr>
          <a:xfrm>
            <a:off x="10698480" y="1755648"/>
            <a:ext cx="868680" cy="548640"/>
          </a:xfrm>
          <a:prstGeom prst="rect">
            <a:avLst/>
          </a:prstGeom>
          <a:noFill/>
          <a:ln>
            <a:noFill/>
          </a:ln>
        </p:spPr>
        <p:txBody>
          <a:bodyPr anchorCtr="0" anchor="ctr" bIns="0" lIns="0" spcFirstLastPara="1" rIns="0" wrap="square" tIns="0">
            <a:noAutofit/>
          </a:bodyPr>
          <a:lstStyle/>
          <a:p>
            <a:pPr indent="0" lvl="0" marL="0" marR="0" rtl="0" algn="r">
              <a:lnSpc>
                <a:spcPct val="123809"/>
              </a:lnSpc>
              <a:spcBef>
                <a:spcPts val="0"/>
              </a:spcBef>
              <a:spcAft>
                <a:spcPts val="0"/>
              </a:spcAft>
              <a:buClr>
                <a:srgbClr val="17313B"/>
              </a:buClr>
              <a:buSzPts val="1050"/>
              <a:buFont typeface="Calibri"/>
              <a:buNone/>
            </a:pPr>
            <a:r>
              <a:rPr b="1" i="0" lang="en-US" sz="1050" u="none" cap="none" strike="noStrike">
                <a:solidFill>
                  <a:srgbClr val="17313B"/>
                </a:solidFill>
                <a:latin typeface="Calibri"/>
                <a:ea typeface="Calibri"/>
                <a:cs typeface="Calibri"/>
                <a:sym typeface="Calibri"/>
              </a:rPr>
              <a:t>10 slides</a:t>
            </a:r>
            <a:endParaRPr b="0" i="0" sz="1050" u="none" cap="none" strike="noStrike">
              <a:solidFill>
                <a:schemeClr val="dk1"/>
              </a:solidFill>
              <a:latin typeface="Calibri"/>
              <a:ea typeface="Calibri"/>
              <a:cs typeface="Calibri"/>
              <a:sym typeface="Calibri"/>
            </a:endParaRPr>
          </a:p>
          <a:p>
            <a:pPr indent="0" lvl="0" marL="0" marR="0" rtl="0" algn="r">
              <a:lnSpc>
                <a:spcPct val="123809"/>
              </a:lnSpc>
              <a:spcBef>
                <a:spcPts val="0"/>
              </a:spcBef>
              <a:spcAft>
                <a:spcPts val="0"/>
              </a:spcAft>
              <a:buClr>
                <a:srgbClr val="17313B"/>
              </a:buClr>
              <a:buSzPts val="1050"/>
              <a:buFont typeface="Calibri"/>
              <a:buNone/>
            </a:pPr>
            <a:r>
              <a:rPr b="1" i="0" lang="en-US" sz="1050" u="none" cap="none" strike="noStrike">
                <a:solidFill>
                  <a:srgbClr val="17313B"/>
                </a:solidFill>
                <a:latin typeface="Calibri"/>
                <a:ea typeface="Calibri"/>
                <a:cs typeface="Calibri"/>
                <a:sym typeface="Calibri"/>
              </a:rPr>
              <a:t>10 min</a:t>
            </a:r>
            <a:endParaRPr b="0" i="0" sz="1050" u="none" cap="none" strike="noStrike">
              <a:solidFill>
                <a:schemeClr val="dk1"/>
              </a:solidFill>
              <a:latin typeface="Calibri"/>
              <a:ea typeface="Calibri"/>
              <a:cs typeface="Calibri"/>
              <a:sym typeface="Calibri"/>
            </a:endParaRPr>
          </a:p>
        </p:txBody>
      </p:sp>
      <p:sp>
        <p:nvSpPr>
          <p:cNvPr id="132" name="Google Shape;132;p4"/>
          <p:cNvSpPr/>
          <p:nvPr/>
        </p:nvSpPr>
        <p:spPr>
          <a:xfrm>
            <a:off x="502920" y="2542032"/>
            <a:ext cx="11155680" cy="804672"/>
          </a:xfrm>
          <a:prstGeom prst="roundRect">
            <a:avLst>
              <a:gd fmla="val 6818"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749808" y="2715768"/>
            <a:ext cx="457200" cy="457200"/>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749808" y="27157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D1</a:t>
            </a:r>
            <a:endParaRPr b="0" i="0" sz="1300" u="none" cap="none" strike="noStrike">
              <a:solidFill>
                <a:schemeClr val="dk1"/>
              </a:solidFill>
              <a:latin typeface="Calibri"/>
              <a:ea typeface="Calibri"/>
              <a:cs typeface="Calibri"/>
              <a:sym typeface="Calibri"/>
            </a:endParaRPr>
          </a:p>
        </p:txBody>
      </p:sp>
      <p:sp>
        <p:nvSpPr>
          <p:cNvPr id="135" name="Google Shape;135;p4"/>
          <p:cNvSpPr/>
          <p:nvPr/>
        </p:nvSpPr>
        <p:spPr>
          <a:xfrm>
            <a:off x="1371600" y="2642616"/>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400"/>
              <a:buFont typeface="Calibri"/>
              <a:buNone/>
            </a:pPr>
            <a:r>
              <a:rPr b="1" i="0" lang="en-US" sz="1400" u="none" cap="none" strike="noStrike">
                <a:solidFill>
                  <a:srgbClr val="17313B"/>
                </a:solidFill>
                <a:latin typeface="Calibri"/>
                <a:ea typeface="Calibri"/>
                <a:cs typeface="Calibri"/>
                <a:sym typeface="Calibri"/>
              </a:rPr>
              <a:t>DEV 1</a:t>
            </a:r>
            <a:endParaRPr b="0" i="0" sz="1400" u="none" cap="none" strike="noStrike">
              <a:solidFill>
                <a:schemeClr val="dk1"/>
              </a:solidFill>
              <a:latin typeface="Calibri"/>
              <a:ea typeface="Calibri"/>
              <a:cs typeface="Calibri"/>
              <a:sym typeface="Calibri"/>
            </a:endParaRPr>
          </a:p>
        </p:txBody>
      </p:sp>
      <p:sp>
        <p:nvSpPr>
          <p:cNvPr id="136" name="Google Shape;136;p4"/>
          <p:cNvSpPr/>
          <p:nvPr/>
        </p:nvSpPr>
        <p:spPr>
          <a:xfrm>
            <a:off x="1371600" y="2935224"/>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0" lang="en-US" sz="950" u="none" cap="none" strike="noStrike">
                <a:solidFill>
                  <a:srgbClr val="6B7A7F"/>
                </a:solidFill>
                <a:latin typeface="Calibri"/>
                <a:ea typeface="Calibri"/>
                <a:cs typeface="Calibri"/>
                <a:sym typeface="Calibri"/>
              </a:rPr>
              <a:t>Treatment effect modelling</a:t>
            </a:r>
            <a:endParaRPr b="0" i="0" sz="950" u="none" cap="none" strike="noStrike">
              <a:solidFill>
                <a:schemeClr val="dk1"/>
              </a:solidFill>
              <a:latin typeface="Calibri"/>
              <a:ea typeface="Calibri"/>
              <a:cs typeface="Calibri"/>
              <a:sym typeface="Calibri"/>
            </a:endParaRPr>
          </a:p>
        </p:txBody>
      </p:sp>
      <p:sp>
        <p:nvSpPr>
          <p:cNvPr id="137" name="Google Shape;137;p4"/>
          <p:cNvSpPr/>
          <p:nvPr/>
        </p:nvSpPr>
        <p:spPr>
          <a:xfrm>
            <a:off x="3977640" y="2679192"/>
            <a:ext cx="4846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62A"/>
              </a:buClr>
              <a:buSzPts val="1100"/>
              <a:buFont typeface="Calibri"/>
              <a:buNone/>
            </a:pPr>
            <a:r>
              <a:rPr b="0" i="0" lang="en-US" sz="1100" u="none" cap="none" strike="noStrike">
                <a:solidFill>
                  <a:srgbClr val="20262A"/>
                </a:solidFill>
                <a:latin typeface="Calibri"/>
                <a:ea typeface="Calibri"/>
                <a:cs typeface="Calibri"/>
                <a:sym typeface="Calibri"/>
              </a:rPr>
              <a:t>Module 1 videos 8–12 (T/S-learner, C-for-benefit) · Module 3 Shapley</a:t>
            </a:r>
            <a:endParaRPr b="0" i="0" sz="1100" u="none" cap="none" strike="noStrike">
              <a:solidFill>
                <a:schemeClr val="dk1"/>
              </a:solidFill>
              <a:latin typeface="Calibri"/>
              <a:ea typeface="Calibri"/>
              <a:cs typeface="Calibri"/>
              <a:sym typeface="Calibri"/>
            </a:endParaRPr>
          </a:p>
        </p:txBody>
      </p:sp>
      <p:sp>
        <p:nvSpPr>
          <p:cNvPr id="138" name="Google Shape;138;p4"/>
          <p:cNvSpPr/>
          <p:nvPr/>
        </p:nvSpPr>
        <p:spPr>
          <a:xfrm>
            <a:off x="8915400" y="266090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050"/>
              <a:buFont typeface="Calibri"/>
              <a:buNone/>
            </a:pPr>
            <a:r>
              <a:rPr b="1" i="0" lang="en-US" sz="1050" u="none" cap="none" strike="noStrike">
                <a:solidFill>
                  <a:srgbClr val="1F6F7A"/>
                </a:solidFill>
                <a:latin typeface="Calibri"/>
                <a:ea typeface="Calibri"/>
                <a:cs typeface="Calibri"/>
                <a:sym typeface="Calibri"/>
              </a:rPr>
              <a:t>Max level  ●●●</a:t>
            </a:r>
            <a:endParaRPr b="0" i="0" sz="1050" u="none" cap="none" strike="noStrike">
              <a:solidFill>
                <a:schemeClr val="dk1"/>
              </a:solidFill>
              <a:latin typeface="Calibri"/>
              <a:ea typeface="Calibri"/>
              <a:cs typeface="Calibri"/>
              <a:sym typeface="Calibri"/>
            </a:endParaRPr>
          </a:p>
        </p:txBody>
      </p:sp>
      <p:sp>
        <p:nvSpPr>
          <p:cNvPr id="139" name="Google Shape;139;p4"/>
          <p:cNvSpPr/>
          <p:nvPr/>
        </p:nvSpPr>
        <p:spPr>
          <a:xfrm>
            <a:off x="8915400" y="293522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0" lang="en-US" sz="950" u="none" cap="none" strike="noStrike">
                <a:solidFill>
                  <a:srgbClr val="6B7A7F"/>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40" name="Google Shape;140;p4"/>
          <p:cNvSpPr/>
          <p:nvPr/>
        </p:nvSpPr>
        <p:spPr>
          <a:xfrm>
            <a:off x="10698480" y="2670048"/>
            <a:ext cx="868680" cy="548640"/>
          </a:xfrm>
          <a:prstGeom prst="rect">
            <a:avLst/>
          </a:prstGeom>
          <a:noFill/>
          <a:ln>
            <a:noFill/>
          </a:ln>
        </p:spPr>
        <p:txBody>
          <a:bodyPr anchorCtr="0" anchor="ctr" bIns="0" lIns="0" spcFirstLastPara="1" rIns="0" wrap="square" tIns="0">
            <a:noAutofit/>
          </a:bodyPr>
          <a:lstStyle/>
          <a:p>
            <a:pPr indent="0" lvl="0" marL="0" marR="0" rtl="0" algn="r">
              <a:lnSpc>
                <a:spcPct val="123809"/>
              </a:lnSpc>
              <a:spcBef>
                <a:spcPts val="0"/>
              </a:spcBef>
              <a:spcAft>
                <a:spcPts val="0"/>
              </a:spcAft>
              <a:buClr>
                <a:srgbClr val="17313B"/>
              </a:buClr>
              <a:buSzPts val="1050"/>
              <a:buFont typeface="Calibri"/>
              <a:buNone/>
            </a:pPr>
            <a:r>
              <a:rPr b="1" i="0" lang="en-US" sz="1050" u="none" cap="none" strike="noStrike">
                <a:solidFill>
                  <a:srgbClr val="17313B"/>
                </a:solidFill>
                <a:latin typeface="Calibri"/>
                <a:ea typeface="Calibri"/>
                <a:cs typeface="Calibri"/>
                <a:sym typeface="Calibri"/>
              </a:rPr>
              <a:t>7 slides</a:t>
            </a:r>
            <a:endParaRPr b="0" i="0" sz="1050" u="none" cap="none" strike="noStrike">
              <a:solidFill>
                <a:schemeClr val="dk1"/>
              </a:solidFill>
              <a:latin typeface="Calibri"/>
              <a:ea typeface="Calibri"/>
              <a:cs typeface="Calibri"/>
              <a:sym typeface="Calibri"/>
            </a:endParaRPr>
          </a:p>
          <a:p>
            <a:pPr indent="0" lvl="0" marL="0" marR="0" rtl="0" algn="r">
              <a:lnSpc>
                <a:spcPct val="123809"/>
              </a:lnSpc>
              <a:spcBef>
                <a:spcPts val="0"/>
              </a:spcBef>
              <a:spcAft>
                <a:spcPts val="0"/>
              </a:spcAft>
              <a:buClr>
                <a:srgbClr val="17313B"/>
              </a:buClr>
              <a:buSzPts val="1050"/>
              <a:buFont typeface="Calibri"/>
              <a:buNone/>
            </a:pPr>
            <a:r>
              <a:rPr b="1" i="0" lang="en-US" sz="1050" u="none" cap="none" strike="noStrike">
                <a:solidFill>
                  <a:srgbClr val="17313B"/>
                </a:solidFill>
                <a:latin typeface="Calibri"/>
                <a:ea typeface="Calibri"/>
                <a:cs typeface="Calibri"/>
                <a:sym typeface="Calibri"/>
              </a:rPr>
              <a:t>9.5 min</a:t>
            </a:r>
            <a:endParaRPr b="0" i="0" sz="1050" u="none" cap="none" strike="noStrike">
              <a:solidFill>
                <a:schemeClr val="dk1"/>
              </a:solidFill>
              <a:latin typeface="Calibri"/>
              <a:ea typeface="Calibri"/>
              <a:cs typeface="Calibri"/>
              <a:sym typeface="Calibri"/>
            </a:endParaRPr>
          </a:p>
        </p:txBody>
      </p:sp>
      <p:sp>
        <p:nvSpPr>
          <p:cNvPr id="141" name="Google Shape;141;p4"/>
          <p:cNvSpPr/>
          <p:nvPr/>
        </p:nvSpPr>
        <p:spPr>
          <a:xfrm>
            <a:off x="502920" y="3456432"/>
            <a:ext cx="11155680" cy="804672"/>
          </a:xfrm>
          <a:prstGeom prst="roundRect">
            <a:avLst>
              <a:gd fmla="val 6818"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749808" y="3630168"/>
            <a:ext cx="457200" cy="457200"/>
          </a:xfrm>
          <a:prstGeom prst="ellipse">
            <a:avLst/>
          </a:prstGeom>
          <a:solidFill>
            <a:srgbClr val="2E5A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749808" y="36301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D2</a:t>
            </a:r>
            <a:endParaRPr b="0" i="0" sz="1300" u="none" cap="none" strike="noStrike">
              <a:solidFill>
                <a:schemeClr val="dk1"/>
              </a:solidFill>
              <a:latin typeface="Calibri"/>
              <a:ea typeface="Calibri"/>
              <a:cs typeface="Calibri"/>
              <a:sym typeface="Calibri"/>
            </a:endParaRPr>
          </a:p>
        </p:txBody>
      </p:sp>
      <p:sp>
        <p:nvSpPr>
          <p:cNvPr id="144" name="Google Shape;144;p4"/>
          <p:cNvSpPr/>
          <p:nvPr/>
        </p:nvSpPr>
        <p:spPr>
          <a:xfrm>
            <a:off x="1371600" y="3557016"/>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400"/>
              <a:buFont typeface="Calibri"/>
              <a:buNone/>
            </a:pPr>
            <a:r>
              <a:rPr b="1" i="0" lang="en-US" sz="1400" u="none" cap="none" strike="noStrike">
                <a:solidFill>
                  <a:srgbClr val="17313B"/>
                </a:solidFill>
                <a:latin typeface="Calibri"/>
                <a:ea typeface="Calibri"/>
                <a:cs typeface="Calibri"/>
                <a:sym typeface="Calibri"/>
              </a:rPr>
              <a:t>DEV 2</a:t>
            </a:r>
            <a:endParaRPr b="0" i="0" sz="1400" u="none" cap="none" strike="noStrike">
              <a:solidFill>
                <a:schemeClr val="dk1"/>
              </a:solidFill>
              <a:latin typeface="Calibri"/>
              <a:ea typeface="Calibri"/>
              <a:cs typeface="Calibri"/>
              <a:sym typeface="Calibri"/>
            </a:endParaRPr>
          </a:p>
        </p:txBody>
      </p:sp>
      <p:sp>
        <p:nvSpPr>
          <p:cNvPr id="145" name="Google Shape;145;p4"/>
          <p:cNvSpPr/>
          <p:nvPr/>
        </p:nvSpPr>
        <p:spPr>
          <a:xfrm>
            <a:off x="1371600" y="3849624"/>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0" lang="en-US" sz="950" u="none" cap="none" strike="noStrike">
                <a:solidFill>
                  <a:srgbClr val="6B7A7F"/>
                </a:solidFill>
                <a:latin typeface="Calibri"/>
                <a:ea typeface="Calibri"/>
                <a:cs typeface="Calibri"/>
                <a:sym typeface="Calibri"/>
              </a:rPr>
              <a:t>Medical NLP and image interpretation</a:t>
            </a:r>
            <a:endParaRPr b="0" i="0" sz="950" u="none" cap="none" strike="noStrike">
              <a:solidFill>
                <a:schemeClr val="dk1"/>
              </a:solidFill>
              <a:latin typeface="Calibri"/>
              <a:ea typeface="Calibri"/>
              <a:cs typeface="Calibri"/>
              <a:sym typeface="Calibri"/>
            </a:endParaRPr>
          </a:p>
        </p:txBody>
      </p:sp>
      <p:sp>
        <p:nvSpPr>
          <p:cNvPr id="146" name="Google Shape;146;p4"/>
          <p:cNvSpPr/>
          <p:nvPr/>
        </p:nvSpPr>
        <p:spPr>
          <a:xfrm>
            <a:off x="3977640" y="3593592"/>
            <a:ext cx="4846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62A"/>
              </a:buClr>
              <a:buSzPts val="1100"/>
              <a:buFont typeface="Calibri"/>
              <a:buNone/>
            </a:pPr>
            <a:r>
              <a:rPr b="0" i="0" lang="en-US" sz="1100" u="none" cap="none" strike="noStrike">
                <a:solidFill>
                  <a:srgbClr val="20262A"/>
                </a:solidFill>
                <a:latin typeface="Calibri"/>
                <a:ea typeface="Calibri"/>
                <a:cs typeface="Calibri"/>
                <a:sym typeface="Calibri"/>
              </a:rPr>
              <a:t>Module 2 videos 1–3 (BERT) · Module 3 importance + localization/heat maps</a:t>
            </a:r>
            <a:endParaRPr b="0" i="0" sz="1100" u="none" cap="none" strike="noStrike">
              <a:solidFill>
                <a:schemeClr val="dk1"/>
              </a:solidFill>
              <a:latin typeface="Calibri"/>
              <a:ea typeface="Calibri"/>
              <a:cs typeface="Calibri"/>
              <a:sym typeface="Calibri"/>
            </a:endParaRPr>
          </a:p>
        </p:txBody>
      </p:sp>
      <p:sp>
        <p:nvSpPr>
          <p:cNvPr id="147" name="Google Shape;147;p4"/>
          <p:cNvSpPr/>
          <p:nvPr/>
        </p:nvSpPr>
        <p:spPr>
          <a:xfrm>
            <a:off x="8915400" y="357530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050"/>
              <a:buFont typeface="Calibri"/>
              <a:buNone/>
            </a:pPr>
            <a:r>
              <a:rPr b="1" i="0" lang="en-US" sz="1050" u="none" cap="none" strike="noStrike">
                <a:solidFill>
                  <a:srgbClr val="1F6F7A"/>
                </a:solidFill>
                <a:latin typeface="Calibri"/>
                <a:ea typeface="Calibri"/>
                <a:cs typeface="Calibri"/>
                <a:sym typeface="Calibri"/>
              </a:rPr>
              <a:t>Max level  ●●●</a:t>
            </a:r>
            <a:endParaRPr b="0" i="0" sz="1050" u="none" cap="none" strike="noStrike">
              <a:solidFill>
                <a:schemeClr val="dk1"/>
              </a:solidFill>
              <a:latin typeface="Calibri"/>
              <a:ea typeface="Calibri"/>
              <a:cs typeface="Calibri"/>
              <a:sym typeface="Calibri"/>
            </a:endParaRPr>
          </a:p>
        </p:txBody>
      </p:sp>
      <p:sp>
        <p:nvSpPr>
          <p:cNvPr id="148" name="Google Shape;148;p4"/>
          <p:cNvSpPr/>
          <p:nvPr/>
        </p:nvSpPr>
        <p:spPr>
          <a:xfrm>
            <a:off x="8915400" y="384962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0" lang="en-US" sz="950" u="none" cap="none" strike="noStrike">
                <a:solidFill>
                  <a:srgbClr val="6B7A7F"/>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49" name="Google Shape;149;p4"/>
          <p:cNvSpPr/>
          <p:nvPr/>
        </p:nvSpPr>
        <p:spPr>
          <a:xfrm>
            <a:off x="10698480" y="3584448"/>
            <a:ext cx="868680" cy="548640"/>
          </a:xfrm>
          <a:prstGeom prst="rect">
            <a:avLst/>
          </a:prstGeom>
          <a:noFill/>
          <a:ln>
            <a:noFill/>
          </a:ln>
        </p:spPr>
        <p:txBody>
          <a:bodyPr anchorCtr="0" anchor="ctr" bIns="0" lIns="0" spcFirstLastPara="1" rIns="0" wrap="square" tIns="0">
            <a:noAutofit/>
          </a:bodyPr>
          <a:lstStyle/>
          <a:p>
            <a:pPr indent="0" lvl="0" marL="0" marR="0" rtl="0" algn="r">
              <a:lnSpc>
                <a:spcPct val="123809"/>
              </a:lnSpc>
              <a:spcBef>
                <a:spcPts val="0"/>
              </a:spcBef>
              <a:spcAft>
                <a:spcPts val="0"/>
              </a:spcAft>
              <a:buClr>
                <a:srgbClr val="17313B"/>
              </a:buClr>
              <a:buSzPts val="1050"/>
              <a:buFont typeface="Calibri"/>
              <a:buNone/>
            </a:pPr>
            <a:r>
              <a:rPr b="1" i="0" lang="en-US" sz="1050" u="none" cap="none" strike="noStrike">
                <a:solidFill>
                  <a:srgbClr val="17313B"/>
                </a:solidFill>
                <a:latin typeface="Calibri"/>
                <a:ea typeface="Calibri"/>
                <a:cs typeface="Calibri"/>
                <a:sym typeface="Calibri"/>
              </a:rPr>
              <a:t>10 slides</a:t>
            </a:r>
            <a:endParaRPr b="0" i="0" sz="1050" u="none" cap="none" strike="noStrike">
              <a:solidFill>
                <a:schemeClr val="dk1"/>
              </a:solidFill>
              <a:latin typeface="Calibri"/>
              <a:ea typeface="Calibri"/>
              <a:cs typeface="Calibri"/>
              <a:sym typeface="Calibri"/>
            </a:endParaRPr>
          </a:p>
          <a:p>
            <a:pPr indent="0" lvl="0" marL="0" marR="0" rtl="0" algn="r">
              <a:lnSpc>
                <a:spcPct val="123809"/>
              </a:lnSpc>
              <a:spcBef>
                <a:spcPts val="0"/>
              </a:spcBef>
              <a:spcAft>
                <a:spcPts val="0"/>
              </a:spcAft>
              <a:buClr>
                <a:srgbClr val="17313B"/>
              </a:buClr>
              <a:buSzPts val="1050"/>
              <a:buFont typeface="Calibri"/>
              <a:buNone/>
            </a:pPr>
            <a:r>
              <a:rPr b="1" i="0" lang="en-US" sz="1050" u="none" cap="none" strike="noStrike">
                <a:solidFill>
                  <a:srgbClr val="17313B"/>
                </a:solidFill>
                <a:latin typeface="Calibri"/>
                <a:ea typeface="Calibri"/>
                <a:cs typeface="Calibri"/>
                <a:sym typeface="Calibri"/>
              </a:rPr>
              <a:t>9.5 min</a:t>
            </a:r>
            <a:endParaRPr b="0" i="0" sz="1050" u="none" cap="none" strike="noStrike">
              <a:solidFill>
                <a:schemeClr val="dk1"/>
              </a:solidFill>
              <a:latin typeface="Calibri"/>
              <a:ea typeface="Calibri"/>
              <a:cs typeface="Calibri"/>
              <a:sym typeface="Calibri"/>
            </a:endParaRPr>
          </a:p>
        </p:txBody>
      </p:sp>
      <p:sp>
        <p:nvSpPr>
          <p:cNvPr id="150" name="Google Shape;150;p4"/>
          <p:cNvSpPr/>
          <p:nvPr/>
        </p:nvSpPr>
        <p:spPr>
          <a:xfrm>
            <a:off x="502920" y="4370832"/>
            <a:ext cx="11155680" cy="804672"/>
          </a:xfrm>
          <a:prstGeom prst="roundRect">
            <a:avLst>
              <a:gd fmla="val 6818" name="adj"/>
            </a:avLst>
          </a:prstGeom>
          <a:solidFill>
            <a:srgbClr val="EEF3F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749808" y="4544568"/>
            <a:ext cx="457200" cy="457200"/>
          </a:xfrm>
          <a:prstGeom prst="ellipse">
            <a:avLst/>
          </a:prstGeom>
          <a:solidFill>
            <a:srgbClr val="8C6D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749808" y="45445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B2</a:t>
            </a:r>
            <a:endParaRPr b="0" i="0" sz="1300" u="none" cap="none" strike="noStrike">
              <a:solidFill>
                <a:schemeClr val="dk1"/>
              </a:solidFill>
              <a:latin typeface="Calibri"/>
              <a:ea typeface="Calibri"/>
              <a:cs typeface="Calibri"/>
              <a:sym typeface="Calibri"/>
            </a:endParaRPr>
          </a:p>
        </p:txBody>
      </p:sp>
      <p:sp>
        <p:nvSpPr>
          <p:cNvPr id="153" name="Google Shape;153;p4"/>
          <p:cNvSpPr/>
          <p:nvPr/>
        </p:nvSpPr>
        <p:spPr>
          <a:xfrm>
            <a:off x="1371600" y="4471416"/>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400"/>
              <a:buFont typeface="Calibri"/>
              <a:buNone/>
            </a:pPr>
            <a:r>
              <a:rPr b="1" i="0" lang="en-US" sz="1400" u="none" cap="none" strike="noStrike">
                <a:solidFill>
                  <a:srgbClr val="17313B"/>
                </a:solidFill>
                <a:latin typeface="Calibri"/>
                <a:ea typeface="Calibri"/>
                <a:cs typeface="Calibri"/>
                <a:sym typeface="Calibri"/>
              </a:rPr>
              <a:t>BIZ 2</a:t>
            </a:r>
            <a:endParaRPr b="0" i="0" sz="1400" u="none" cap="none" strike="noStrike">
              <a:solidFill>
                <a:schemeClr val="dk1"/>
              </a:solidFill>
              <a:latin typeface="Calibri"/>
              <a:ea typeface="Calibri"/>
              <a:cs typeface="Calibri"/>
              <a:sym typeface="Calibri"/>
            </a:endParaRPr>
          </a:p>
        </p:txBody>
      </p:sp>
      <p:sp>
        <p:nvSpPr>
          <p:cNvPr id="154" name="Google Shape;154;p4"/>
          <p:cNvSpPr/>
          <p:nvPr/>
        </p:nvSpPr>
        <p:spPr>
          <a:xfrm>
            <a:off x="1371600" y="4764024"/>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0" lang="en-US" sz="950" u="none" cap="none" strike="noStrike">
                <a:solidFill>
                  <a:srgbClr val="6B7A7F"/>
                </a:solidFill>
                <a:latin typeface="Calibri"/>
                <a:ea typeface="Calibri"/>
                <a:cs typeface="Calibri"/>
                <a:sym typeface="Calibri"/>
              </a:rPr>
              <a:t>Terminology, measurement and assessment</a:t>
            </a:r>
            <a:endParaRPr b="0" i="0" sz="950" u="none" cap="none" strike="noStrike">
              <a:solidFill>
                <a:schemeClr val="dk1"/>
              </a:solidFill>
              <a:latin typeface="Calibri"/>
              <a:ea typeface="Calibri"/>
              <a:cs typeface="Calibri"/>
              <a:sym typeface="Calibri"/>
            </a:endParaRPr>
          </a:p>
        </p:txBody>
      </p:sp>
      <p:sp>
        <p:nvSpPr>
          <p:cNvPr id="155" name="Google Shape;155;p4"/>
          <p:cNvSpPr/>
          <p:nvPr/>
        </p:nvSpPr>
        <p:spPr>
          <a:xfrm>
            <a:off x="3977640" y="4507992"/>
            <a:ext cx="4846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62A"/>
              </a:buClr>
              <a:buSzPts val="1100"/>
              <a:buFont typeface="Calibri"/>
              <a:buNone/>
            </a:pPr>
            <a:r>
              <a:rPr b="0" i="0" lang="en-US" sz="1100" u="none" cap="none" strike="noStrike">
                <a:solidFill>
                  <a:srgbClr val="20262A"/>
                </a:solidFill>
                <a:latin typeface="Calibri"/>
                <a:ea typeface="Calibri"/>
                <a:cs typeface="Calibri"/>
                <a:sym typeface="Calibri"/>
              </a:rPr>
              <a:t>Module 2 videos 4–10 · Individual importance · Critical assessment</a:t>
            </a:r>
            <a:endParaRPr b="0" i="0" sz="1100" u="none" cap="none" strike="noStrike">
              <a:solidFill>
                <a:schemeClr val="dk1"/>
              </a:solidFill>
              <a:latin typeface="Calibri"/>
              <a:ea typeface="Calibri"/>
              <a:cs typeface="Calibri"/>
              <a:sym typeface="Calibri"/>
            </a:endParaRPr>
          </a:p>
        </p:txBody>
      </p:sp>
      <p:sp>
        <p:nvSpPr>
          <p:cNvPr id="156" name="Google Shape;156;p4"/>
          <p:cNvSpPr/>
          <p:nvPr/>
        </p:nvSpPr>
        <p:spPr>
          <a:xfrm>
            <a:off x="8915400" y="448970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0F"/>
              </a:buClr>
              <a:buSzPts val="1050"/>
              <a:buFont typeface="Calibri"/>
              <a:buNone/>
            </a:pPr>
            <a:r>
              <a:rPr b="1" i="0" lang="en-US" sz="1050" u="none" cap="none" strike="noStrike">
                <a:solidFill>
                  <a:srgbClr val="B4550F"/>
                </a:solidFill>
                <a:latin typeface="Calibri"/>
                <a:ea typeface="Calibri"/>
                <a:cs typeface="Calibri"/>
                <a:sym typeface="Calibri"/>
              </a:rPr>
              <a:t>Max level  ●●○</a:t>
            </a:r>
            <a:endParaRPr b="0" i="0" sz="1050" u="none" cap="none" strike="noStrike">
              <a:solidFill>
                <a:schemeClr val="dk1"/>
              </a:solidFill>
              <a:latin typeface="Calibri"/>
              <a:ea typeface="Calibri"/>
              <a:cs typeface="Calibri"/>
              <a:sym typeface="Calibri"/>
            </a:endParaRPr>
          </a:p>
        </p:txBody>
      </p:sp>
      <p:sp>
        <p:nvSpPr>
          <p:cNvPr id="157" name="Google Shape;157;p4"/>
          <p:cNvSpPr/>
          <p:nvPr/>
        </p:nvSpPr>
        <p:spPr>
          <a:xfrm>
            <a:off x="8915400" y="476402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0" lang="en-US" sz="950" u="none" cap="none" strike="noStrike">
                <a:solidFill>
                  <a:srgbClr val="6B7A7F"/>
                </a:solidFill>
                <a:latin typeface="Calibri"/>
                <a:ea typeface="Calibri"/>
                <a:cs typeface="Calibri"/>
                <a:sym typeface="Calibri"/>
              </a:rPr>
              <a:t>DEV 2 backs Q&amp;A</a:t>
            </a:r>
            <a:endParaRPr b="0" i="0" sz="950" u="none" cap="none" strike="noStrike">
              <a:solidFill>
                <a:schemeClr val="dk1"/>
              </a:solidFill>
              <a:latin typeface="Calibri"/>
              <a:ea typeface="Calibri"/>
              <a:cs typeface="Calibri"/>
              <a:sym typeface="Calibri"/>
            </a:endParaRPr>
          </a:p>
        </p:txBody>
      </p:sp>
      <p:sp>
        <p:nvSpPr>
          <p:cNvPr id="158" name="Google Shape;158;p4"/>
          <p:cNvSpPr/>
          <p:nvPr/>
        </p:nvSpPr>
        <p:spPr>
          <a:xfrm>
            <a:off x="10698480" y="4498848"/>
            <a:ext cx="868680" cy="548640"/>
          </a:xfrm>
          <a:prstGeom prst="rect">
            <a:avLst/>
          </a:prstGeom>
          <a:noFill/>
          <a:ln>
            <a:noFill/>
          </a:ln>
        </p:spPr>
        <p:txBody>
          <a:bodyPr anchorCtr="0" anchor="ctr" bIns="0" lIns="0" spcFirstLastPara="1" rIns="0" wrap="square" tIns="0">
            <a:noAutofit/>
          </a:bodyPr>
          <a:lstStyle/>
          <a:p>
            <a:pPr indent="0" lvl="0" marL="0" marR="0" rtl="0" algn="r">
              <a:lnSpc>
                <a:spcPct val="123809"/>
              </a:lnSpc>
              <a:spcBef>
                <a:spcPts val="0"/>
              </a:spcBef>
              <a:spcAft>
                <a:spcPts val="0"/>
              </a:spcAft>
              <a:buClr>
                <a:srgbClr val="17313B"/>
              </a:buClr>
              <a:buSzPts val="1050"/>
              <a:buFont typeface="Calibri"/>
              <a:buNone/>
            </a:pPr>
            <a:r>
              <a:rPr b="1" i="0" lang="en-US" sz="1050" u="none" cap="none" strike="noStrike">
                <a:solidFill>
                  <a:srgbClr val="17313B"/>
                </a:solidFill>
                <a:latin typeface="Calibri"/>
                <a:ea typeface="Calibri"/>
                <a:cs typeface="Calibri"/>
                <a:sym typeface="Calibri"/>
              </a:rPr>
              <a:t>10 slides</a:t>
            </a:r>
            <a:endParaRPr b="0" i="0" sz="1050" u="none" cap="none" strike="noStrike">
              <a:solidFill>
                <a:schemeClr val="dk1"/>
              </a:solidFill>
              <a:latin typeface="Calibri"/>
              <a:ea typeface="Calibri"/>
              <a:cs typeface="Calibri"/>
              <a:sym typeface="Calibri"/>
            </a:endParaRPr>
          </a:p>
          <a:p>
            <a:pPr indent="0" lvl="0" marL="0" marR="0" rtl="0" algn="r">
              <a:lnSpc>
                <a:spcPct val="123809"/>
              </a:lnSpc>
              <a:spcBef>
                <a:spcPts val="0"/>
              </a:spcBef>
              <a:spcAft>
                <a:spcPts val="0"/>
              </a:spcAft>
              <a:buClr>
                <a:srgbClr val="17313B"/>
              </a:buClr>
              <a:buSzPts val="1050"/>
              <a:buFont typeface="Calibri"/>
              <a:buNone/>
            </a:pPr>
            <a:r>
              <a:rPr b="1" i="0" lang="en-US" sz="1050" u="none" cap="none" strike="noStrike">
                <a:solidFill>
                  <a:srgbClr val="17313B"/>
                </a:solidFill>
                <a:latin typeface="Calibri"/>
                <a:ea typeface="Calibri"/>
                <a:cs typeface="Calibri"/>
                <a:sym typeface="Calibri"/>
              </a:rPr>
              <a:t>11 min</a:t>
            </a:r>
            <a:endParaRPr b="0" i="0" sz="1050" u="none" cap="none" strike="noStrike">
              <a:solidFill>
                <a:schemeClr val="dk1"/>
              </a:solidFill>
              <a:latin typeface="Calibri"/>
              <a:ea typeface="Calibri"/>
              <a:cs typeface="Calibri"/>
              <a:sym typeface="Calibri"/>
            </a:endParaRPr>
          </a:p>
        </p:txBody>
      </p:sp>
      <p:sp>
        <p:nvSpPr>
          <p:cNvPr id="159" name="Google Shape;159;p4"/>
          <p:cNvSpPr/>
          <p:nvPr/>
        </p:nvSpPr>
        <p:spPr>
          <a:xfrm>
            <a:off x="502920" y="5394960"/>
            <a:ext cx="5486400" cy="960120"/>
          </a:xfrm>
          <a:prstGeom prst="roundRect">
            <a:avLst>
              <a:gd fmla="val 5714" name="adj"/>
            </a:avLst>
          </a:prstGeom>
          <a:solidFill>
            <a:srgbClr val="FFFFFF"/>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731520" y="5477256"/>
            <a:ext cx="5029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0F"/>
              </a:buClr>
              <a:buSzPts val="950"/>
              <a:buFont typeface="Calibri"/>
              <a:buNone/>
            </a:pPr>
            <a:r>
              <a:rPr b="1" i="0" lang="en-US" sz="950" u="none" cap="none" strike="noStrike">
                <a:solidFill>
                  <a:srgbClr val="B4550F"/>
                </a:solidFill>
                <a:latin typeface="Calibri"/>
                <a:ea typeface="Calibri"/>
                <a:cs typeface="Calibri"/>
                <a:sym typeface="Calibri"/>
              </a:rPr>
              <a:t>IF YOU RUN OVER TIME, CUT IN THIS ORDER</a:t>
            </a:r>
            <a:endParaRPr b="0" i="0" sz="950" u="none" cap="none" strike="noStrike">
              <a:solidFill>
                <a:schemeClr val="dk1"/>
              </a:solidFill>
              <a:latin typeface="Calibri"/>
              <a:ea typeface="Calibri"/>
              <a:cs typeface="Calibri"/>
              <a:sym typeface="Calibri"/>
            </a:endParaRPr>
          </a:p>
        </p:txBody>
      </p:sp>
      <p:sp>
        <p:nvSpPr>
          <p:cNvPr id="161" name="Google Shape;161;p4"/>
          <p:cNvSpPr/>
          <p:nvPr/>
        </p:nvSpPr>
        <p:spPr>
          <a:xfrm>
            <a:off x="731520" y="5705856"/>
            <a:ext cx="502920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950"/>
              <a:buFont typeface="Calibri"/>
              <a:buNone/>
            </a:pPr>
            <a:r>
              <a:rPr b="0" i="0" lang="en-US" sz="950" u="none" cap="none" strike="noStrike">
                <a:solidFill>
                  <a:srgbClr val="20262A"/>
                </a:solidFill>
                <a:latin typeface="Calibri"/>
                <a:ea typeface="Calibri"/>
                <a:cs typeface="Calibri"/>
                <a:sym typeface="Calibri"/>
              </a:rPr>
              <a:t>1. Is-a Relationships  →  2. Multiple Disease Categories  →  3. Synonyms  →  4. Interpreting CNN Models  →  5. merge Permutation into Drop Column</a:t>
            </a:r>
            <a:endParaRPr b="0" i="0" sz="950" u="none" cap="none" strike="noStrike">
              <a:solidFill>
                <a:schemeClr val="dk1"/>
              </a:solidFill>
              <a:latin typeface="Calibri"/>
              <a:ea typeface="Calibri"/>
              <a:cs typeface="Calibri"/>
              <a:sym typeface="Calibri"/>
            </a:endParaRPr>
          </a:p>
        </p:txBody>
      </p:sp>
      <p:sp>
        <p:nvSpPr>
          <p:cNvPr id="162" name="Google Shape;162;p4"/>
          <p:cNvSpPr/>
          <p:nvPr/>
        </p:nvSpPr>
        <p:spPr>
          <a:xfrm>
            <a:off x="731520" y="6062472"/>
            <a:ext cx="5029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000"/>
              <a:buFont typeface="Calibri"/>
              <a:buNone/>
            </a:pPr>
            <a:r>
              <a:rPr b="1" i="0" lang="en-US" sz="1000" u="none" cap="none" strike="noStrike">
                <a:solidFill>
                  <a:srgbClr val="17313B"/>
                </a:solidFill>
                <a:latin typeface="Calibri"/>
                <a:ea typeface="Calibri"/>
                <a:cs typeface="Calibri"/>
                <a:sym typeface="Calibri"/>
              </a:rPr>
              <a:t>NEVER cut Causal Inference, S-Learner or the Critical Assessment.</a:t>
            </a:r>
            <a:endParaRPr b="0" i="0" sz="1000" u="none" cap="none" strike="noStrike">
              <a:solidFill>
                <a:schemeClr val="dk1"/>
              </a:solidFill>
              <a:latin typeface="Calibri"/>
              <a:ea typeface="Calibri"/>
              <a:cs typeface="Calibri"/>
              <a:sym typeface="Calibri"/>
            </a:endParaRPr>
          </a:p>
        </p:txBody>
      </p:sp>
      <p:sp>
        <p:nvSpPr>
          <p:cNvPr id="163" name="Google Shape;163;p4"/>
          <p:cNvSpPr/>
          <p:nvPr/>
        </p:nvSpPr>
        <p:spPr>
          <a:xfrm>
            <a:off x="6172200" y="5394960"/>
            <a:ext cx="5486400" cy="960120"/>
          </a:xfrm>
          <a:prstGeom prst="roundRect">
            <a:avLst>
              <a:gd fmla="val 5714" name="adj"/>
            </a:avLst>
          </a:prstGeom>
          <a:solidFill>
            <a:srgbClr val="EAF3EE"/>
          </a:solidFill>
          <a:ln cap="flat" cmpd="sng" w="12700">
            <a:solidFill>
              <a:srgbClr val="4E8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6400800" y="5477256"/>
            <a:ext cx="5029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4A"/>
              </a:buClr>
              <a:buSzPts val="1000"/>
              <a:buFont typeface="Calibri"/>
              <a:buNone/>
            </a:pPr>
            <a:r>
              <a:rPr b="1" i="0" lang="en-US" sz="1000" u="none" cap="none" strike="noStrike">
                <a:solidFill>
                  <a:srgbClr val="2F6B4A"/>
                </a:solidFill>
                <a:latin typeface="Calibri"/>
                <a:ea typeface="Calibri"/>
                <a:cs typeface="Calibri"/>
                <a:sym typeface="Calibri"/>
              </a:rPr>
              <a:t>CHECKED: no level ●●● slide is assigned to a business member.</a:t>
            </a:r>
            <a:endParaRPr b="0" i="0" sz="1000" u="none" cap="none" strike="noStrike">
              <a:solidFill>
                <a:schemeClr val="dk1"/>
              </a:solidFill>
              <a:latin typeface="Calibri"/>
              <a:ea typeface="Calibri"/>
              <a:cs typeface="Calibri"/>
              <a:sym typeface="Calibri"/>
            </a:endParaRPr>
          </a:p>
        </p:txBody>
      </p:sp>
      <p:sp>
        <p:nvSpPr>
          <p:cNvPr id="165" name="Google Shape;165;p4"/>
          <p:cNvSpPr/>
          <p:nvPr/>
        </p:nvSpPr>
        <p:spPr>
          <a:xfrm>
            <a:off x="6400800" y="5705856"/>
            <a:ext cx="502920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950"/>
              <a:buFont typeface="Calibri"/>
              <a:buNone/>
            </a:pPr>
            <a:r>
              <a:rPr b="0" i="0" lang="en-US" sz="950" u="none" cap="none" strike="noStrike">
                <a:solidFill>
                  <a:srgbClr val="20262A"/>
                </a:solidFill>
                <a:latin typeface="Calibri"/>
                <a:ea typeface="Calibri"/>
                <a:cs typeface="Calibri"/>
                <a:sym typeface="Calibri"/>
              </a:rPr>
              <a:t>VISUALS: each slide owner produces the image for their own slide. Two are mandatory — the SHAP force plot and the X-ray heat map.</a:t>
            </a:r>
            <a:endParaRPr b="0" i="0" sz="950" u="none" cap="none" strike="noStrike">
              <a:solidFill>
                <a:schemeClr val="dk1"/>
              </a:solidFill>
              <a:latin typeface="Calibri"/>
              <a:ea typeface="Calibri"/>
              <a:cs typeface="Calibri"/>
              <a:sym typeface="Calibri"/>
            </a:endParaRPr>
          </a:p>
        </p:txBody>
      </p:sp>
      <p:sp>
        <p:nvSpPr>
          <p:cNvPr id="166" name="Google Shape;166;p4"/>
          <p:cNvSpPr/>
          <p:nvPr/>
        </p:nvSpPr>
        <p:spPr>
          <a:xfrm>
            <a:off x="6400800" y="6062472"/>
            <a:ext cx="5029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000"/>
              <a:buFont typeface="Calibri"/>
              <a:buNone/>
            </a:pPr>
            <a:r>
              <a:rPr b="1" i="0" lang="en-US" sz="1000" u="none" cap="none" strike="noStrike">
                <a:solidFill>
                  <a:srgbClr val="17313B"/>
                </a:solidFill>
                <a:latin typeface="Calibri"/>
                <a:ea typeface="Calibri"/>
                <a:cs typeface="Calibri"/>
                <a:sym typeface="Calibri"/>
              </a:rPr>
              <a:t>Hide this slide before presenting: right-click → Hide Slide.</a:t>
            </a:r>
            <a:endParaRPr b="0" i="0" sz="1000" u="none" cap="none" strike="noStrike">
              <a:solidFill>
                <a:schemeClr val="dk1"/>
              </a:solidFill>
              <a:latin typeface="Calibri"/>
              <a:ea typeface="Calibri"/>
              <a:cs typeface="Calibri"/>
              <a:sym typeface="Calibri"/>
            </a:endParaRPr>
          </a:p>
        </p:txBody>
      </p:sp>
      <p:sp>
        <p:nvSpPr>
          <p:cNvPr id="167" name="Google Shape;167;p4"/>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168" name="Google Shape;168;p4"/>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13B"/>
        </a:solidFill>
      </p:bgPr>
    </p:bg>
    <p:spTree>
      <p:nvGrpSpPr>
        <p:cNvPr id="173" name="Shape 173"/>
        <p:cNvGrpSpPr/>
        <p:nvPr/>
      </p:nvGrpSpPr>
      <p:grpSpPr>
        <a:xfrm>
          <a:off x="0" y="0"/>
          <a:ext cx="0" cy="0"/>
          <a:chOff x="0" y="0"/>
          <a:chExt cx="0" cy="0"/>
        </a:xfrm>
      </p:grpSpPr>
      <p:sp>
        <p:nvSpPr>
          <p:cNvPr id="174" name="Google Shape;174;p5"/>
          <p:cNvSpPr/>
          <p:nvPr/>
        </p:nvSpPr>
        <p:spPr>
          <a:xfrm>
            <a:off x="822960" y="2377440"/>
            <a:ext cx="1371600" cy="1371600"/>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822960" y="2377440"/>
            <a:ext cx="13716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1</a:t>
            </a:r>
            <a:endParaRPr b="0" i="0" sz="5400" u="none" cap="none" strike="noStrike">
              <a:solidFill>
                <a:schemeClr val="dk1"/>
              </a:solidFill>
              <a:latin typeface="Calibri"/>
              <a:ea typeface="Calibri"/>
              <a:cs typeface="Calibri"/>
              <a:sym typeface="Calibri"/>
            </a:endParaRPr>
          </a:p>
        </p:txBody>
      </p:sp>
      <p:sp>
        <p:nvSpPr>
          <p:cNvPr id="176" name="Google Shape;176;p5"/>
          <p:cNvSpPr/>
          <p:nvPr/>
        </p:nvSpPr>
        <p:spPr>
          <a:xfrm>
            <a:off x="2560320" y="2468880"/>
            <a:ext cx="8686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C4CC"/>
              </a:buClr>
              <a:buSzPts val="1300"/>
              <a:buFont typeface="Calibri"/>
              <a:buNone/>
            </a:pPr>
            <a:r>
              <a:rPr b="1" i="0" lang="en-US" sz="1300" u="none" cap="none" strike="noStrike">
                <a:solidFill>
                  <a:srgbClr val="9FC4CC"/>
                </a:solidFill>
                <a:latin typeface="Calibri"/>
                <a:ea typeface="Calibri"/>
                <a:cs typeface="Calibri"/>
                <a:sym typeface="Calibri"/>
              </a:rPr>
              <a:t>MODULE 1</a:t>
            </a:r>
            <a:endParaRPr b="0" i="0" sz="1300" u="none" cap="none" strike="noStrike">
              <a:solidFill>
                <a:schemeClr val="dk1"/>
              </a:solidFill>
              <a:latin typeface="Calibri"/>
              <a:ea typeface="Calibri"/>
              <a:cs typeface="Calibri"/>
              <a:sym typeface="Calibri"/>
            </a:endParaRPr>
          </a:p>
        </p:txBody>
      </p:sp>
      <p:sp>
        <p:nvSpPr>
          <p:cNvPr id="177" name="Google Shape;177;p5"/>
          <p:cNvSpPr/>
          <p:nvPr/>
        </p:nvSpPr>
        <p:spPr>
          <a:xfrm>
            <a:off x="2560320" y="2788920"/>
            <a:ext cx="89611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Treatment Effect Estimation</a:t>
            </a:r>
            <a:endParaRPr b="0" i="0" sz="3600" u="none" cap="none" strike="noStrike">
              <a:solidFill>
                <a:schemeClr val="dk1"/>
              </a:solidFill>
              <a:latin typeface="Calibri"/>
              <a:ea typeface="Calibri"/>
              <a:cs typeface="Calibri"/>
              <a:sym typeface="Calibri"/>
            </a:endParaRPr>
          </a:p>
        </p:txBody>
      </p:sp>
      <p:sp>
        <p:nvSpPr>
          <p:cNvPr id="178" name="Google Shape;178;p5"/>
          <p:cNvSpPr/>
          <p:nvPr/>
        </p:nvSpPr>
        <p:spPr>
          <a:xfrm>
            <a:off x="2560320" y="3566160"/>
            <a:ext cx="8961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A7B0"/>
              </a:buClr>
              <a:buSzPts val="1400"/>
              <a:buFont typeface="Calibri"/>
              <a:buNone/>
            </a:pPr>
            <a:r>
              <a:rPr b="0" i="0" lang="en-US" sz="1400" u="none" cap="none" strike="noStrike">
                <a:solidFill>
                  <a:srgbClr val="7FA7B0"/>
                </a:solidFill>
                <a:latin typeface="Calibri"/>
                <a:ea typeface="Calibri"/>
                <a:cs typeface="Calibri"/>
                <a:sym typeface="Calibri"/>
              </a:rPr>
              <a:t>12 videos · 43 min · Week 1   ·   Speaking order: BIZ 1 → DEV 1</a:t>
            </a:r>
            <a:endParaRPr b="0" i="0" sz="1400" u="none" cap="none" strike="noStrike">
              <a:solidFill>
                <a:schemeClr val="dk1"/>
              </a:solidFill>
              <a:latin typeface="Calibri"/>
              <a:ea typeface="Calibri"/>
              <a:cs typeface="Calibri"/>
              <a:sym typeface="Calibri"/>
            </a:endParaRPr>
          </a:p>
        </p:txBody>
      </p:sp>
      <p:sp>
        <p:nvSpPr>
          <p:cNvPr id="179" name="Google Shape;179;p5"/>
          <p:cNvSpPr/>
          <p:nvPr/>
        </p:nvSpPr>
        <p:spPr>
          <a:xfrm>
            <a:off x="2560320" y="3913632"/>
            <a:ext cx="8961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B58A"/>
              </a:buClr>
              <a:buSzPts val="1300"/>
              <a:buFont typeface="Calibri"/>
              <a:buNone/>
            </a:pPr>
            <a:r>
              <a:rPr b="1" i="0" lang="en-US" sz="1300" u="none" cap="none" strike="noStrike">
                <a:solidFill>
                  <a:srgbClr val="E8B58A"/>
                </a:solidFill>
                <a:latin typeface="Calibri"/>
                <a:ea typeface="Calibri"/>
                <a:cs typeface="Calibri"/>
                <a:sym typeface="Calibri"/>
              </a:rPr>
              <a:t>This divider is read by BIZ 1</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6"/>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186" name="Google Shape;186;p6"/>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Introduction to Course 3</a:t>
            </a:r>
            <a:endParaRPr b="0" i="0" sz="3000" u="none" cap="none" strike="noStrike">
              <a:solidFill>
                <a:schemeClr val="dk1"/>
              </a:solidFill>
              <a:latin typeface="Calibri"/>
              <a:ea typeface="Calibri"/>
              <a:cs typeface="Calibri"/>
              <a:sym typeface="Calibri"/>
            </a:endParaRPr>
          </a:p>
        </p:txBody>
      </p:sp>
      <p:sp>
        <p:nvSpPr>
          <p:cNvPr id="187" name="Google Shape;187;p6"/>
          <p:cNvSpPr/>
          <p:nvPr/>
        </p:nvSpPr>
        <p:spPr>
          <a:xfrm>
            <a:off x="502920" y="1691640"/>
            <a:ext cx="749808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The specialization covers three branches of medicine: diagnosis, prognosis, treatment</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Course 3 question: what is the effect of a treatment on THIS patient?</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Week 1 treatment effects · Week 2 information extraction from text · Week 3 interpretation</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Week 3 interprets both the Course 1 image models and the Course 2 structured-data models</a:t>
            </a:r>
            <a:endParaRPr b="0" i="0" sz="1550" u="none" cap="none" strike="noStrike">
              <a:solidFill>
                <a:schemeClr val="dk1"/>
              </a:solidFill>
              <a:latin typeface="Calibri"/>
              <a:ea typeface="Calibri"/>
              <a:cs typeface="Calibri"/>
              <a:sym typeface="Calibri"/>
            </a:endParaRPr>
          </a:p>
        </p:txBody>
      </p:sp>
      <p:sp>
        <p:nvSpPr>
          <p:cNvPr id="188" name="Google Shape;188;p6"/>
          <p:cNvSpPr/>
          <p:nvPr/>
        </p:nvSpPr>
        <p:spPr>
          <a:xfrm>
            <a:off x="502920" y="4114800"/>
            <a:ext cx="7498080" cy="1691640"/>
          </a:xfrm>
          <a:prstGeom prst="roundRect">
            <a:avLst>
              <a:gd fmla="val 3243" name="adj"/>
            </a:avLst>
          </a:prstGeom>
          <a:solidFill>
            <a:srgbClr val="FAFCFC"/>
          </a:solidFill>
          <a:ln cap="flat" cmpd="sng" w="12700">
            <a:solidFill>
              <a:srgbClr val="CCD6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777240" y="4754880"/>
            <a:ext cx="6949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7F"/>
              </a:buClr>
              <a:buSzPts val="1200"/>
              <a:buFont typeface="Calibri"/>
              <a:buNone/>
            </a:pPr>
            <a:r>
              <a:rPr b="0" i="1" lang="en-US" sz="1200" u="none" cap="none" strike="noStrike">
                <a:solidFill>
                  <a:srgbClr val="6B7A7F"/>
                </a:solidFill>
                <a:latin typeface="Calibri"/>
                <a:ea typeface="Calibri"/>
                <a:cs typeface="Calibri"/>
                <a:sym typeface="Calibri"/>
              </a:rPr>
              <a:t>Place image here — Diagram: the three courses in sequence</a:t>
            </a:r>
            <a:endParaRPr b="0" i="0" sz="1200" u="none" cap="none" strike="noStrike">
              <a:solidFill>
                <a:schemeClr val="dk1"/>
              </a:solidFill>
              <a:latin typeface="Calibri"/>
              <a:ea typeface="Calibri"/>
              <a:cs typeface="Calibri"/>
              <a:sym typeface="Calibri"/>
            </a:endParaRPr>
          </a:p>
        </p:txBody>
      </p:sp>
      <p:sp>
        <p:nvSpPr>
          <p:cNvPr id="190" name="Google Shape;190;p6"/>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8613648" y="914400"/>
            <a:ext cx="502920" cy="50292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B1</a:t>
            </a:r>
            <a:endParaRPr b="0" i="0" sz="1400" u="none" cap="none" strike="noStrike">
              <a:solidFill>
                <a:schemeClr val="dk1"/>
              </a:solidFill>
              <a:latin typeface="Calibri"/>
              <a:ea typeface="Calibri"/>
              <a:cs typeface="Calibri"/>
              <a:sym typeface="Calibri"/>
            </a:endParaRPr>
          </a:p>
        </p:txBody>
      </p:sp>
      <p:sp>
        <p:nvSpPr>
          <p:cNvPr id="193" name="Google Shape;193;p6"/>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BIZ 1</a:t>
            </a:r>
            <a:endParaRPr b="0" i="0" sz="1500" u="none" cap="none" strike="noStrike">
              <a:solidFill>
                <a:schemeClr val="dk1"/>
              </a:solidFill>
              <a:latin typeface="Calibri"/>
              <a:ea typeface="Calibri"/>
              <a:cs typeface="Calibri"/>
              <a:sym typeface="Calibri"/>
            </a:endParaRPr>
          </a:p>
        </p:txBody>
      </p:sp>
      <p:sp>
        <p:nvSpPr>
          <p:cNvPr id="194" name="Google Shape;194;p6"/>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1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B4550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None — can stand alone</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Intro to Course 3 · About Course 3</a:t>
            </a:r>
            <a:endParaRPr b="0" i="0" sz="1050" u="none" cap="none" strike="noStrike">
              <a:solidFill>
                <a:schemeClr val="dk1"/>
              </a:solidFill>
              <a:latin typeface="Calibri"/>
              <a:ea typeface="Calibri"/>
              <a:cs typeface="Calibri"/>
              <a:sym typeface="Calibri"/>
            </a:endParaRPr>
          </a:p>
        </p:txBody>
      </p:sp>
      <p:sp>
        <p:nvSpPr>
          <p:cNvPr id="195" name="Google Shape;195;p6"/>
          <p:cNvSpPr/>
          <p:nvPr/>
        </p:nvSpPr>
        <p:spPr>
          <a:xfrm>
            <a:off x="8366760" y="3200400"/>
            <a:ext cx="3291840" cy="1280160"/>
          </a:xfrm>
          <a:prstGeom prst="roundRect">
            <a:avLst>
              <a:gd fmla="val 5714" name="adj"/>
            </a:avLst>
          </a:prstGeom>
          <a:solidFill>
            <a:srgbClr val="FFFFFF"/>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8613648" y="3337560"/>
            <a:ext cx="27980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1" i="0" lang="en-US" sz="950" u="none" cap="none" strike="noStrike">
                <a:solidFill>
                  <a:srgbClr val="6B7A7F"/>
                </a:solidFill>
                <a:latin typeface="Calibri"/>
                <a:ea typeface="Calibri"/>
                <a:cs typeface="Calibri"/>
                <a:sym typeface="Calibri"/>
              </a:rPr>
              <a:t>SUGGESTED VISUAL</a:t>
            </a:r>
            <a:endParaRPr b="0" i="0" sz="950" u="none" cap="none" strike="noStrike">
              <a:solidFill>
                <a:schemeClr val="dk1"/>
              </a:solidFill>
              <a:latin typeface="Calibri"/>
              <a:ea typeface="Calibri"/>
              <a:cs typeface="Calibri"/>
              <a:sym typeface="Calibri"/>
            </a:endParaRPr>
          </a:p>
        </p:txBody>
      </p:sp>
      <p:sp>
        <p:nvSpPr>
          <p:cNvPr id="197" name="Google Shape;197;p6"/>
          <p:cNvSpPr/>
          <p:nvPr/>
        </p:nvSpPr>
        <p:spPr>
          <a:xfrm>
            <a:off x="8613648" y="3611880"/>
            <a:ext cx="2798064"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1150"/>
              <a:buFont typeface="Calibri"/>
              <a:buNone/>
            </a:pPr>
            <a:r>
              <a:rPr b="0" i="0" lang="en-US" sz="1150" u="none" cap="none" strike="noStrike">
                <a:solidFill>
                  <a:srgbClr val="20262A"/>
                </a:solidFill>
                <a:latin typeface="Calibri"/>
                <a:ea typeface="Calibri"/>
                <a:cs typeface="Calibri"/>
                <a:sym typeface="Calibri"/>
              </a:rPr>
              <a:t>Diagram: the three courses in sequence</a:t>
            </a:r>
            <a:endParaRPr b="0" i="0" sz="1150" u="none" cap="none" strike="noStrike">
              <a:solidFill>
                <a:schemeClr val="dk1"/>
              </a:solidFill>
              <a:latin typeface="Calibri"/>
              <a:ea typeface="Calibri"/>
              <a:cs typeface="Calibri"/>
              <a:sym typeface="Calibri"/>
            </a:endParaRPr>
          </a:p>
        </p:txBody>
      </p:sp>
      <p:sp>
        <p:nvSpPr>
          <p:cNvPr id="198" name="Google Shape;198;p6"/>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199" name="Google Shape;199;p6"/>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200" name="Google Shape;200;p6"/>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7"/>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207" name="Google Shape;207;p7"/>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Absolute Risk Reduction</a:t>
            </a:r>
            <a:endParaRPr b="0" i="0" sz="3000" u="none" cap="none" strike="noStrike">
              <a:solidFill>
                <a:schemeClr val="dk1"/>
              </a:solidFill>
              <a:latin typeface="Calibri"/>
              <a:ea typeface="Calibri"/>
              <a:cs typeface="Calibri"/>
              <a:sym typeface="Calibri"/>
            </a:endParaRPr>
          </a:p>
        </p:txBody>
      </p:sp>
      <p:sp>
        <p:nvSpPr>
          <p:cNvPr id="208" name="Google Shape;208;p7"/>
          <p:cNvSpPr/>
          <p:nvPr/>
        </p:nvSpPr>
        <p:spPr>
          <a:xfrm>
            <a:off x="502920" y="1691640"/>
            <a:ext cx="749808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Treatment arm vs control arm; controls receive a placebo or the standard of care</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Absolute risk = fraction of a group that suffers the adverse outcome</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Course example: 2% of the treatment arm and 5% of the control arm had a heart attack</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ARR = risk(control) − risk(treatment) = 0.05 − 0.02 = 0.03</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NNT = 1 / ARR = 1 / 0.03 = 33.3 patients treated to save one from a heart attack</a:t>
            </a:r>
            <a:endParaRPr b="0" i="0" sz="1550" u="none" cap="none" strike="noStrike">
              <a:solidFill>
                <a:schemeClr val="dk1"/>
              </a:solidFill>
              <a:latin typeface="Calibri"/>
              <a:ea typeface="Calibri"/>
              <a:cs typeface="Calibri"/>
              <a:sym typeface="Calibri"/>
            </a:endParaRPr>
          </a:p>
        </p:txBody>
      </p:sp>
      <p:sp>
        <p:nvSpPr>
          <p:cNvPr id="209" name="Google Shape;209;p7"/>
          <p:cNvSpPr/>
          <p:nvPr/>
        </p:nvSpPr>
        <p:spPr>
          <a:xfrm>
            <a:off x="502920" y="4114800"/>
            <a:ext cx="7498080" cy="1691640"/>
          </a:xfrm>
          <a:prstGeom prst="roundRect">
            <a:avLst>
              <a:gd fmla="val 3243" name="adj"/>
            </a:avLst>
          </a:prstGeom>
          <a:solidFill>
            <a:srgbClr val="FAFCFC"/>
          </a:solidFill>
          <a:ln cap="flat" cmpd="sng" w="12700">
            <a:solidFill>
              <a:srgbClr val="CCD6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777240" y="4754880"/>
            <a:ext cx="6949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7F"/>
              </a:buClr>
              <a:buSzPts val="1200"/>
              <a:buFont typeface="Calibri"/>
              <a:buNone/>
            </a:pPr>
            <a:r>
              <a:rPr b="0" i="1" lang="en-US" sz="1200" u="none" cap="none" strike="noStrike">
                <a:solidFill>
                  <a:srgbClr val="6B7A7F"/>
                </a:solidFill>
                <a:latin typeface="Calibri"/>
                <a:ea typeface="Calibri"/>
                <a:cs typeface="Calibri"/>
                <a:sym typeface="Calibri"/>
              </a:rPr>
              <a:t>Place image here — Bar chart: 5% control vs 2% treatment</a:t>
            </a:r>
            <a:endParaRPr b="0" i="0" sz="1200" u="none" cap="none" strike="noStrike">
              <a:solidFill>
                <a:schemeClr val="dk1"/>
              </a:solidFill>
              <a:latin typeface="Calibri"/>
              <a:ea typeface="Calibri"/>
              <a:cs typeface="Calibri"/>
              <a:sym typeface="Calibri"/>
            </a:endParaRPr>
          </a:p>
        </p:txBody>
      </p:sp>
      <p:sp>
        <p:nvSpPr>
          <p:cNvPr id="211" name="Google Shape;211;p7"/>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8613648" y="914400"/>
            <a:ext cx="502920" cy="50292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B1</a:t>
            </a:r>
            <a:endParaRPr b="0" i="0" sz="1400" u="none" cap="none" strike="noStrike">
              <a:solidFill>
                <a:schemeClr val="dk1"/>
              </a:solidFill>
              <a:latin typeface="Calibri"/>
              <a:ea typeface="Calibri"/>
              <a:cs typeface="Calibri"/>
              <a:sym typeface="Calibri"/>
            </a:endParaRPr>
          </a:p>
        </p:txBody>
      </p:sp>
      <p:sp>
        <p:nvSpPr>
          <p:cNvPr id="214" name="Google Shape;214;p7"/>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BIZ 1</a:t>
            </a:r>
            <a:endParaRPr b="0" i="0" sz="1500" u="none" cap="none" strike="noStrike">
              <a:solidFill>
                <a:schemeClr val="dk1"/>
              </a:solidFill>
              <a:latin typeface="Calibri"/>
              <a:ea typeface="Calibri"/>
              <a:cs typeface="Calibri"/>
              <a:sym typeface="Calibri"/>
            </a:endParaRPr>
          </a:p>
        </p:txBody>
      </p:sp>
      <p:sp>
        <p:nvSpPr>
          <p:cNvPr id="215" name="Google Shape;215;p7"/>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1.5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B4550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None — can stand alone</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Absolute Risk Reduction</a:t>
            </a:r>
            <a:endParaRPr b="0" i="0" sz="1050" u="none" cap="none" strike="noStrike">
              <a:solidFill>
                <a:schemeClr val="dk1"/>
              </a:solidFill>
              <a:latin typeface="Calibri"/>
              <a:ea typeface="Calibri"/>
              <a:cs typeface="Calibri"/>
              <a:sym typeface="Calibri"/>
            </a:endParaRPr>
          </a:p>
        </p:txBody>
      </p:sp>
      <p:sp>
        <p:nvSpPr>
          <p:cNvPr id="216" name="Google Shape;216;p7"/>
          <p:cNvSpPr/>
          <p:nvPr/>
        </p:nvSpPr>
        <p:spPr>
          <a:xfrm>
            <a:off x="8366760" y="3200400"/>
            <a:ext cx="3291840" cy="1280160"/>
          </a:xfrm>
          <a:prstGeom prst="roundRect">
            <a:avLst>
              <a:gd fmla="val 5714" name="adj"/>
            </a:avLst>
          </a:prstGeom>
          <a:solidFill>
            <a:srgbClr val="FFFFFF"/>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8613648" y="3337560"/>
            <a:ext cx="27980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1" i="0" lang="en-US" sz="950" u="none" cap="none" strike="noStrike">
                <a:solidFill>
                  <a:srgbClr val="6B7A7F"/>
                </a:solidFill>
                <a:latin typeface="Calibri"/>
                <a:ea typeface="Calibri"/>
                <a:cs typeface="Calibri"/>
                <a:sym typeface="Calibri"/>
              </a:rPr>
              <a:t>SUGGESTED VISUAL</a:t>
            </a:r>
            <a:endParaRPr b="0" i="0" sz="950" u="none" cap="none" strike="noStrike">
              <a:solidFill>
                <a:schemeClr val="dk1"/>
              </a:solidFill>
              <a:latin typeface="Calibri"/>
              <a:ea typeface="Calibri"/>
              <a:cs typeface="Calibri"/>
              <a:sym typeface="Calibri"/>
            </a:endParaRPr>
          </a:p>
        </p:txBody>
      </p:sp>
      <p:sp>
        <p:nvSpPr>
          <p:cNvPr id="218" name="Google Shape;218;p7"/>
          <p:cNvSpPr/>
          <p:nvPr/>
        </p:nvSpPr>
        <p:spPr>
          <a:xfrm>
            <a:off x="8613648" y="3611880"/>
            <a:ext cx="2798064"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1150"/>
              <a:buFont typeface="Calibri"/>
              <a:buNone/>
            </a:pPr>
            <a:r>
              <a:rPr b="0" i="0" lang="en-US" sz="1150" u="none" cap="none" strike="noStrike">
                <a:solidFill>
                  <a:srgbClr val="20262A"/>
                </a:solidFill>
                <a:latin typeface="Calibri"/>
                <a:ea typeface="Calibri"/>
                <a:cs typeface="Calibri"/>
                <a:sym typeface="Calibri"/>
              </a:rPr>
              <a:t>Bar chart: 5% control vs 2% treatment</a:t>
            </a:r>
            <a:endParaRPr b="0" i="0" sz="1150" u="none" cap="none" strike="noStrike">
              <a:solidFill>
                <a:schemeClr val="dk1"/>
              </a:solidFill>
              <a:latin typeface="Calibri"/>
              <a:ea typeface="Calibri"/>
              <a:cs typeface="Calibri"/>
              <a:sym typeface="Calibri"/>
            </a:endParaRPr>
          </a:p>
        </p:txBody>
      </p:sp>
      <p:sp>
        <p:nvSpPr>
          <p:cNvPr id="219" name="Google Shape;219;p7"/>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220" name="Google Shape;220;p7"/>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221" name="Google Shape;221;p7"/>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8"/>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228" name="Google Shape;228;p8"/>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Randomized Control Trials</a:t>
            </a:r>
            <a:endParaRPr b="0" i="0" sz="3000" u="none" cap="none" strike="noStrike">
              <a:solidFill>
                <a:schemeClr val="dk1"/>
              </a:solidFill>
              <a:latin typeface="Calibri"/>
              <a:ea typeface="Calibri"/>
              <a:cs typeface="Calibri"/>
              <a:sym typeface="Calibri"/>
            </a:endParaRPr>
          </a:p>
        </p:txBody>
      </p:sp>
      <p:sp>
        <p:nvSpPr>
          <p:cNvPr id="229" name="Google Shape;229;p8"/>
          <p:cNvSpPr/>
          <p:nvPr/>
        </p:nvSpPr>
        <p:spPr>
          <a:xfrm>
            <a:off x="502920" y="1691640"/>
            <a:ext cx="749808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Patients are randomly assigned to the treatment or control arm</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Randomisation makes the two arms comparable, so the difference is attributable to treatment</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RCTs reveal the causal effect of a treatment on a population</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Without randomisation, group differences confound the comparison</a:t>
            </a:r>
            <a:endParaRPr b="0" i="0" sz="1550" u="none" cap="none" strike="noStrike">
              <a:solidFill>
                <a:schemeClr val="dk1"/>
              </a:solidFill>
              <a:latin typeface="Calibri"/>
              <a:ea typeface="Calibri"/>
              <a:cs typeface="Calibri"/>
              <a:sym typeface="Calibri"/>
            </a:endParaRPr>
          </a:p>
        </p:txBody>
      </p:sp>
      <p:sp>
        <p:nvSpPr>
          <p:cNvPr id="230" name="Google Shape;230;p8"/>
          <p:cNvSpPr/>
          <p:nvPr/>
        </p:nvSpPr>
        <p:spPr>
          <a:xfrm>
            <a:off x="502920" y="4114800"/>
            <a:ext cx="7498080" cy="1691640"/>
          </a:xfrm>
          <a:prstGeom prst="roundRect">
            <a:avLst>
              <a:gd fmla="val 3243" name="adj"/>
            </a:avLst>
          </a:prstGeom>
          <a:solidFill>
            <a:srgbClr val="FAFCFC"/>
          </a:solidFill>
          <a:ln cap="flat" cmpd="sng" w="12700">
            <a:solidFill>
              <a:srgbClr val="CCD6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777240" y="4754880"/>
            <a:ext cx="6949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7F"/>
              </a:buClr>
              <a:buSzPts val="1200"/>
              <a:buFont typeface="Calibri"/>
              <a:buNone/>
            </a:pPr>
            <a:r>
              <a:rPr b="0" i="1" lang="en-US" sz="1200" u="none" cap="none" strike="noStrike">
                <a:solidFill>
                  <a:srgbClr val="6B7A7F"/>
                </a:solidFill>
                <a:latin typeface="Calibri"/>
                <a:ea typeface="Calibri"/>
                <a:cs typeface="Calibri"/>
                <a:sym typeface="Calibri"/>
              </a:rPr>
              <a:t>Place a diagram, table or image here</a:t>
            </a:r>
            <a:endParaRPr b="0" i="0" sz="1200" u="none" cap="none" strike="noStrike">
              <a:solidFill>
                <a:schemeClr val="dk1"/>
              </a:solidFill>
              <a:latin typeface="Calibri"/>
              <a:ea typeface="Calibri"/>
              <a:cs typeface="Calibri"/>
              <a:sym typeface="Calibri"/>
            </a:endParaRPr>
          </a:p>
        </p:txBody>
      </p:sp>
      <p:sp>
        <p:nvSpPr>
          <p:cNvPr id="232" name="Google Shape;232;p8"/>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8613648" y="914400"/>
            <a:ext cx="502920" cy="50292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B1</a:t>
            </a:r>
            <a:endParaRPr b="0" i="0" sz="1400" u="none" cap="none" strike="noStrike">
              <a:solidFill>
                <a:schemeClr val="dk1"/>
              </a:solidFill>
              <a:latin typeface="Calibri"/>
              <a:ea typeface="Calibri"/>
              <a:cs typeface="Calibri"/>
              <a:sym typeface="Calibri"/>
            </a:endParaRPr>
          </a:p>
        </p:txBody>
      </p:sp>
      <p:sp>
        <p:nvSpPr>
          <p:cNvPr id="235" name="Google Shape;235;p8"/>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BIZ 1</a:t>
            </a:r>
            <a:endParaRPr b="0" i="0" sz="1500" u="none" cap="none" strike="noStrike">
              <a:solidFill>
                <a:schemeClr val="dk1"/>
              </a:solidFill>
              <a:latin typeface="Calibri"/>
              <a:ea typeface="Calibri"/>
              <a:cs typeface="Calibri"/>
              <a:sym typeface="Calibri"/>
            </a:endParaRPr>
          </a:p>
        </p:txBody>
      </p:sp>
      <p:sp>
        <p:nvSpPr>
          <p:cNvPr id="236" name="Google Shape;236;p8"/>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1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B4550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slide 7</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Randomized Control Trials</a:t>
            </a:r>
            <a:endParaRPr b="0" i="0" sz="1050" u="none" cap="none" strike="noStrike">
              <a:solidFill>
                <a:schemeClr val="dk1"/>
              </a:solidFill>
              <a:latin typeface="Calibri"/>
              <a:ea typeface="Calibri"/>
              <a:cs typeface="Calibri"/>
              <a:sym typeface="Calibri"/>
            </a:endParaRPr>
          </a:p>
        </p:txBody>
      </p:sp>
      <p:sp>
        <p:nvSpPr>
          <p:cNvPr id="237" name="Google Shape;237;p8"/>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238" name="Google Shape;238;p8"/>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239" name="Google Shape;239;p8"/>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9"/>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246" name="Google Shape;246;p9"/>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Causal Inference</a:t>
            </a:r>
            <a:endParaRPr b="0" i="0" sz="3000" u="none" cap="none" strike="noStrike">
              <a:solidFill>
                <a:schemeClr val="dk1"/>
              </a:solidFill>
              <a:latin typeface="Calibri"/>
              <a:ea typeface="Calibri"/>
              <a:cs typeface="Calibri"/>
              <a:sym typeface="Calibri"/>
            </a:endParaRPr>
          </a:p>
        </p:txBody>
      </p:sp>
      <p:sp>
        <p:nvSpPr>
          <p:cNvPr id="247" name="Google Shape;247;p9"/>
          <p:cNvSpPr/>
          <p:nvPr/>
        </p:nvSpPr>
        <p:spPr>
          <a:xfrm>
            <a:off x="502920" y="1691640"/>
            <a:ext cx="749808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Neyman–Rubin causal model: each patient has two potential outcomes</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Y(1) = outcome if treated · Y(0) = outcome if untreated · 1 means the adverse event happens</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Unit treatment effect = Y(1) − Y(0), taking values −1, 0 or +1</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−1 = benefit · 0 = no effect · +1 = harm</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Four patient patterns exist: benefit, harm, and two kinds of no effect</a:t>
            </a:r>
            <a:endParaRPr b="0" i="0" sz="1550" u="none" cap="none" strike="noStrike">
              <a:solidFill>
                <a:schemeClr val="dk1"/>
              </a:solidFill>
              <a:latin typeface="Calibri"/>
              <a:ea typeface="Calibri"/>
              <a:cs typeface="Calibri"/>
              <a:sym typeface="Calibri"/>
            </a:endParaRPr>
          </a:p>
        </p:txBody>
      </p:sp>
      <p:sp>
        <p:nvSpPr>
          <p:cNvPr id="248" name="Google Shape;248;p9"/>
          <p:cNvSpPr/>
          <p:nvPr/>
        </p:nvSpPr>
        <p:spPr>
          <a:xfrm>
            <a:off x="502920" y="4114800"/>
            <a:ext cx="7498080" cy="1691640"/>
          </a:xfrm>
          <a:prstGeom prst="roundRect">
            <a:avLst>
              <a:gd fmla="val 3243" name="adj"/>
            </a:avLst>
          </a:prstGeom>
          <a:solidFill>
            <a:srgbClr val="FAFCFC"/>
          </a:solidFill>
          <a:ln cap="flat" cmpd="sng" w="12700">
            <a:solidFill>
              <a:srgbClr val="CCD6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777240" y="4754880"/>
            <a:ext cx="6949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7F"/>
              </a:buClr>
              <a:buSzPts val="1200"/>
              <a:buFont typeface="Calibri"/>
              <a:buNone/>
            </a:pPr>
            <a:r>
              <a:rPr b="0" i="1" lang="en-US" sz="1200" u="none" cap="none" strike="noStrike">
                <a:solidFill>
                  <a:srgbClr val="6B7A7F"/>
                </a:solidFill>
                <a:latin typeface="Calibri"/>
                <a:ea typeface="Calibri"/>
                <a:cs typeface="Calibri"/>
                <a:sym typeface="Calibri"/>
              </a:rPr>
              <a:t>Place image here — Diagram: one patient, two potential outcomes</a:t>
            </a:r>
            <a:endParaRPr b="0" i="0" sz="1200" u="none" cap="none" strike="noStrike">
              <a:solidFill>
                <a:schemeClr val="dk1"/>
              </a:solidFill>
              <a:latin typeface="Calibri"/>
              <a:ea typeface="Calibri"/>
              <a:cs typeface="Calibri"/>
              <a:sym typeface="Calibri"/>
            </a:endParaRPr>
          </a:p>
        </p:txBody>
      </p:sp>
      <p:sp>
        <p:nvSpPr>
          <p:cNvPr id="250" name="Google Shape;250;p9"/>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8613648" y="914400"/>
            <a:ext cx="502920" cy="50292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B1</a:t>
            </a:r>
            <a:endParaRPr b="0" i="0" sz="1400" u="none" cap="none" strike="noStrike">
              <a:solidFill>
                <a:schemeClr val="dk1"/>
              </a:solidFill>
              <a:latin typeface="Calibri"/>
              <a:ea typeface="Calibri"/>
              <a:cs typeface="Calibri"/>
              <a:sym typeface="Calibri"/>
            </a:endParaRPr>
          </a:p>
        </p:txBody>
      </p:sp>
      <p:sp>
        <p:nvSpPr>
          <p:cNvPr id="253" name="Google Shape;253;p9"/>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BIZ 1</a:t>
            </a:r>
            <a:endParaRPr b="0" i="0" sz="1500" u="none" cap="none" strike="noStrike">
              <a:solidFill>
                <a:schemeClr val="dk1"/>
              </a:solidFill>
              <a:latin typeface="Calibri"/>
              <a:ea typeface="Calibri"/>
              <a:cs typeface="Calibri"/>
              <a:sym typeface="Calibri"/>
            </a:endParaRPr>
          </a:p>
        </p:txBody>
      </p:sp>
      <p:sp>
        <p:nvSpPr>
          <p:cNvPr id="254" name="Google Shape;254;p9"/>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1.5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B4550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slide 8</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Causal Inference</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Q&amp;A backup   </a:t>
            </a:r>
            <a:r>
              <a:rPr b="1" i="0" lang="en-US" sz="1050" u="none" cap="none" strike="noStrike">
                <a:solidFill>
                  <a:srgbClr val="1F6F7A"/>
                </a:solidFill>
                <a:latin typeface="Calibri"/>
                <a:ea typeface="Calibri"/>
                <a:cs typeface="Calibri"/>
                <a:sym typeface="Calibri"/>
              </a:rPr>
              <a:t>DEV 1</a:t>
            </a:r>
            <a:endParaRPr b="0" i="0" sz="1050" u="none" cap="none" strike="noStrike">
              <a:solidFill>
                <a:schemeClr val="dk1"/>
              </a:solidFill>
              <a:latin typeface="Calibri"/>
              <a:ea typeface="Calibri"/>
              <a:cs typeface="Calibri"/>
              <a:sym typeface="Calibri"/>
            </a:endParaRPr>
          </a:p>
        </p:txBody>
      </p:sp>
      <p:sp>
        <p:nvSpPr>
          <p:cNvPr id="255" name="Google Shape;255;p9"/>
          <p:cNvSpPr/>
          <p:nvPr/>
        </p:nvSpPr>
        <p:spPr>
          <a:xfrm>
            <a:off x="8366760" y="3200400"/>
            <a:ext cx="3291840" cy="1280160"/>
          </a:xfrm>
          <a:prstGeom prst="roundRect">
            <a:avLst>
              <a:gd fmla="val 5714" name="adj"/>
            </a:avLst>
          </a:prstGeom>
          <a:solidFill>
            <a:srgbClr val="FFFFFF"/>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8613648" y="3337560"/>
            <a:ext cx="27980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1" i="0" lang="en-US" sz="950" u="none" cap="none" strike="noStrike">
                <a:solidFill>
                  <a:srgbClr val="6B7A7F"/>
                </a:solidFill>
                <a:latin typeface="Calibri"/>
                <a:ea typeface="Calibri"/>
                <a:cs typeface="Calibri"/>
                <a:sym typeface="Calibri"/>
              </a:rPr>
              <a:t>SUGGESTED VISUAL</a:t>
            </a:r>
            <a:endParaRPr b="0" i="0" sz="950" u="none" cap="none" strike="noStrike">
              <a:solidFill>
                <a:schemeClr val="dk1"/>
              </a:solidFill>
              <a:latin typeface="Calibri"/>
              <a:ea typeface="Calibri"/>
              <a:cs typeface="Calibri"/>
              <a:sym typeface="Calibri"/>
            </a:endParaRPr>
          </a:p>
        </p:txBody>
      </p:sp>
      <p:sp>
        <p:nvSpPr>
          <p:cNvPr id="257" name="Google Shape;257;p9"/>
          <p:cNvSpPr/>
          <p:nvPr/>
        </p:nvSpPr>
        <p:spPr>
          <a:xfrm>
            <a:off x="8613648" y="3611880"/>
            <a:ext cx="2798064"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1150"/>
              <a:buFont typeface="Calibri"/>
              <a:buNone/>
            </a:pPr>
            <a:r>
              <a:rPr b="0" i="0" lang="en-US" sz="1150" u="none" cap="none" strike="noStrike">
                <a:solidFill>
                  <a:srgbClr val="20262A"/>
                </a:solidFill>
                <a:latin typeface="Calibri"/>
                <a:ea typeface="Calibri"/>
                <a:cs typeface="Calibri"/>
                <a:sym typeface="Calibri"/>
              </a:rPr>
              <a:t>Diagram: one patient, two potential outcomes</a:t>
            </a:r>
            <a:endParaRPr b="0" i="0" sz="1150" u="none" cap="none" strike="noStrike">
              <a:solidFill>
                <a:schemeClr val="dk1"/>
              </a:solidFill>
              <a:latin typeface="Calibri"/>
              <a:ea typeface="Calibri"/>
              <a:cs typeface="Calibri"/>
              <a:sym typeface="Calibri"/>
            </a:endParaRPr>
          </a:p>
        </p:txBody>
      </p:sp>
      <p:sp>
        <p:nvSpPr>
          <p:cNvPr id="258" name="Google Shape;258;p9"/>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259" name="Google Shape;259;p9"/>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260" name="Google Shape;260;p9"/>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0"/>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267" name="Google Shape;267;p10"/>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Average Treatment Effect</a:t>
            </a:r>
            <a:endParaRPr b="0" i="0" sz="3000" u="none" cap="none" strike="noStrike">
              <a:solidFill>
                <a:schemeClr val="dk1"/>
              </a:solidFill>
              <a:latin typeface="Calibri"/>
              <a:ea typeface="Calibri"/>
              <a:cs typeface="Calibri"/>
              <a:sym typeface="Calibri"/>
            </a:endParaRPr>
          </a:p>
        </p:txBody>
      </p:sp>
      <p:sp>
        <p:nvSpPr>
          <p:cNvPr id="268" name="Google Shape;268;p10"/>
          <p:cNvSpPr/>
          <p:nvPr/>
        </p:nvSpPr>
        <p:spPr>
          <a:xfrm>
            <a:off x="502920" y="1691640"/>
            <a:ext cx="749808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Fundamental problem of causal inference: only one potential outcome is ever observed</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The observed one is factual; the missing one is counterfactual</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ATE = E[Y(1) − Y(0)]; from RCT data, ATE = E[Y | W=1] − E[Y | W=0]</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Course example: 0.32 − 0.51 = −0.19, so the ATE is −0.19</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ARR = −ATE = 0.19, a 19% average reduction in risk</a:t>
            </a:r>
            <a:endParaRPr b="0" i="0" sz="1550" u="none" cap="none" strike="noStrike">
              <a:solidFill>
                <a:schemeClr val="dk1"/>
              </a:solidFill>
              <a:latin typeface="Calibri"/>
              <a:ea typeface="Calibri"/>
              <a:cs typeface="Calibri"/>
              <a:sym typeface="Calibri"/>
            </a:endParaRPr>
          </a:p>
        </p:txBody>
      </p:sp>
      <p:sp>
        <p:nvSpPr>
          <p:cNvPr id="269" name="Google Shape;269;p10"/>
          <p:cNvSpPr/>
          <p:nvPr/>
        </p:nvSpPr>
        <p:spPr>
          <a:xfrm>
            <a:off x="502920" y="4114800"/>
            <a:ext cx="7498080" cy="1691640"/>
          </a:xfrm>
          <a:prstGeom prst="roundRect">
            <a:avLst>
              <a:gd fmla="val 3243" name="adj"/>
            </a:avLst>
          </a:prstGeom>
          <a:solidFill>
            <a:srgbClr val="FAFCFC"/>
          </a:solidFill>
          <a:ln cap="flat" cmpd="sng" w="12700">
            <a:solidFill>
              <a:srgbClr val="CCD6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777240" y="4754880"/>
            <a:ext cx="6949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7F"/>
              </a:buClr>
              <a:buSzPts val="1200"/>
              <a:buFont typeface="Calibri"/>
              <a:buNone/>
            </a:pPr>
            <a:r>
              <a:rPr b="0" i="1" lang="en-US" sz="1200" u="none" cap="none" strike="noStrike">
                <a:solidFill>
                  <a:srgbClr val="6B7A7F"/>
                </a:solidFill>
                <a:latin typeface="Calibri"/>
                <a:ea typeface="Calibri"/>
                <a:cs typeface="Calibri"/>
                <a:sym typeface="Calibri"/>
              </a:rPr>
              <a:t>Place a diagram, table or image here</a:t>
            </a:r>
            <a:endParaRPr b="0" i="0" sz="1200" u="none" cap="none" strike="noStrike">
              <a:solidFill>
                <a:schemeClr val="dk1"/>
              </a:solidFill>
              <a:latin typeface="Calibri"/>
              <a:ea typeface="Calibri"/>
              <a:cs typeface="Calibri"/>
              <a:sym typeface="Calibri"/>
            </a:endParaRPr>
          </a:p>
        </p:txBody>
      </p:sp>
      <p:sp>
        <p:nvSpPr>
          <p:cNvPr id="271" name="Google Shape;271;p10"/>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8613648" y="914400"/>
            <a:ext cx="502920" cy="50292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B1</a:t>
            </a:r>
            <a:endParaRPr b="0" i="0" sz="1400" u="none" cap="none" strike="noStrike">
              <a:solidFill>
                <a:schemeClr val="dk1"/>
              </a:solidFill>
              <a:latin typeface="Calibri"/>
              <a:ea typeface="Calibri"/>
              <a:cs typeface="Calibri"/>
              <a:sym typeface="Calibri"/>
            </a:endParaRPr>
          </a:p>
        </p:txBody>
      </p:sp>
      <p:sp>
        <p:nvSpPr>
          <p:cNvPr id="274" name="Google Shape;274;p10"/>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BIZ 1</a:t>
            </a:r>
            <a:endParaRPr b="0" i="0" sz="1500" u="none" cap="none" strike="noStrike">
              <a:solidFill>
                <a:schemeClr val="dk1"/>
              </a:solidFill>
              <a:latin typeface="Calibri"/>
              <a:ea typeface="Calibri"/>
              <a:cs typeface="Calibri"/>
              <a:sym typeface="Calibri"/>
            </a:endParaRPr>
          </a:p>
        </p:txBody>
      </p:sp>
      <p:sp>
        <p:nvSpPr>
          <p:cNvPr id="275" name="Google Shape;275;p10"/>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1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B4550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slide 9 + slide 7</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Average Treatment Effect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Q&amp;A backup   </a:t>
            </a:r>
            <a:r>
              <a:rPr b="1" i="0" lang="en-US" sz="1050" u="none" cap="none" strike="noStrike">
                <a:solidFill>
                  <a:srgbClr val="1F6F7A"/>
                </a:solidFill>
                <a:latin typeface="Calibri"/>
                <a:ea typeface="Calibri"/>
                <a:cs typeface="Calibri"/>
                <a:sym typeface="Calibri"/>
              </a:rPr>
              <a:t>DEV 1</a:t>
            </a:r>
            <a:endParaRPr b="0" i="0" sz="1050" u="none" cap="none" strike="noStrike">
              <a:solidFill>
                <a:schemeClr val="dk1"/>
              </a:solidFill>
              <a:latin typeface="Calibri"/>
              <a:ea typeface="Calibri"/>
              <a:cs typeface="Calibri"/>
              <a:sym typeface="Calibri"/>
            </a:endParaRPr>
          </a:p>
        </p:txBody>
      </p:sp>
      <p:sp>
        <p:nvSpPr>
          <p:cNvPr id="276" name="Google Shape;276;p10"/>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277" name="Google Shape;277;p10"/>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278" name="Google Shape;278;p10"/>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1"/>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1</a:t>
            </a:r>
            <a:endParaRPr b="0" i="0" sz="1100" u="none" cap="none" strike="noStrike">
              <a:solidFill>
                <a:schemeClr val="dk1"/>
              </a:solidFill>
              <a:latin typeface="Calibri"/>
              <a:ea typeface="Calibri"/>
              <a:cs typeface="Calibri"/>
              <a:sym typeface="Calibri"/>
            </a:endParaRPr>
          </a:p>
        </p:txBody>
      </p:sp>
      <p:sp>
        <p:nvSpPr>
          <p:cNvPr id="285" name="Google Shape;285;p11"/>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Conditional Average Treatment Effect</a:t>
            </a:r>
            <a:endParaRPr b="0" i="0" sz="3000" u="none" cap="none" strike="noStrike">
              <a:solidFill>
                <a:schemeClr val="dk1"/>
              </a:solidFill>
              <a:latin typeface="Calibri"/>
              <a:ea typeface="Calibri"/>
              <a:cs typeface="Calibri"/>
              <a:sym typeface="Calibri"/>
            </a:endParaRPr>
          </a:p>
        </p:txBody>
      </p:sp>
      <p:sp>
        <p:nvSpPr>
          <p:cNvPr id="286" name="Google Shape;286;p11"/>
          <p:cNvSpPr/>
          <p:nvPr/>
        </p:nvSpPr>
        <p:spPr>
          <a:xfrm>
            <a:off x="502920" y="1691640"/>
            <a:ext cx="749808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CATE = E[Y(1) − Y(0) | X = x], the treatment effect conditioned on patient features</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Course example patient: x = (age 56, blood pressure 130)</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Exact matching fails: 0 treated and only 1 control patient match both values</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Solution: learn the relationship between features and outcome instead of matching</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Two learned functions: μ̂₁ treatment response, μ̂₀ control response</a:t>
            </a:r>
            <a:endParaRPr b="0" i="0" sz="1550" u="none" cap="none" strike="noStrike">
              <a:solidFill>
                <a:schemeClr val="dk1"/>
              </a:solidFill>
              <a:latin typeface="Calibri"/>
              <a:ea typeface="Calibri"/>
              <a:cs typeface="Calibri"/>
              <a:sym typeface="Calibri"/>
            </a:endParaRPr>
          </a:p>
        </p:txBody>
      </p:sp>
      <p:sp>
        <p:nvSpPr>
          <p:cNvPr id="287" name="Google Shape;287;p11"/>
          <p:cNvSpPr/>
          <p:nvPr/>
        </p:nvSpPr>
        <p:spPr>
          <a:xfrm>
            <a:off x="502920" y="4114800"/>
            <a:ext cx="7498080" cy="1691640"/>
          </a:xfrm>
          <a:prstGeom prst="roundRect">
            <a:avLst>
              <a:gd fmla="val 3243" name="adj"/>
            </a:avLst>
          </a:prstGeom>
          <a:solidFill>
            <a:srgbClr val="FAFCFC"/>
          </a:solidFill>
          <a:ln cap="flat" cmpd="sng" w="12700">
            <a:solidFill>
              <a:srgbClr val="CCD6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p:nvPr/>
        </p:nvSpPr>
        <p:spPr>
          <a:xfrm>
            <a:off x="777240" y="4754880"/>
            <a:ext cx="6949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7F"/>
              </a:buClr>
              <a:buSzPts val="1200"/>
              <a:buFont typeface="Calibri"/>
              <a:buNone/>
            </a:pPr>
            <a:r>
              <a:rPr b="0" i="1" lang="en-US" sz="1200" u="none" cap="none" strike="noStrike">
                <a:solidFill>
                  <a:srgbClr val="6B7A7F"/>
                </a:solidFill>
                <a:latin typeface="Calibri"/>
                <a:ea typeface="Calibri"/>
                <a:cs typeface="Calibri"/>
                <a:sym typeface="Calibri"/>
              </a:rPr>
              <a:t>Place a diagram, table or image here</a:t>
            </a:r>
            <a:endParaRPr b="0" i="0" sz="1200" u="none" cap="none" strike="noStrike">
              <a:solidFill>
                <a:schemeClr val="dk1"/>
              </a:solidFill>
              <a:latin typeface="Calibri"/>
              <a:ea typeface="Calibri"/>
              <a:cs typeface="Calibri"/>
              <a:sym typeface="Calibri"/>
            </a:endParaRPr>
          </a:p>
        </p:txBody>
      </p:sp>
      <p:sp>
        <p:nvSpPr>
          <p:cNvPr id="289" name="Google Shape;289;p11"/>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8613648" y="914400"/>
            <a:ext cx="502920" cy="502920"/>
          </a:xfrm>
          <a:prstGeom prst="ellipse">
            <a:avLst/>
          </a:prstGeom>
          <a:solidFill>
            <a:srgbClr val="B455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B1</a:t>
            </a:r>
            <a:endParaRPr b="0" i="0" sz="1400" u="none" cap="none" strike="noStrike">
              <a:solidFill>
                <a:schemeClr val="dk1"/>
              </a:solidFill>
              <a:latin typeface="Calibri"/>
              <a:ea typeface="Calibri"/>
              <a:cs typeface="Calibri"/>
              <a:sym typeface="Calibri"/>
            </a:endParaRPr>
          </a:p>
        </p:txBody>
      </p:sp>
      <p:sp>
        <p:nvSpPr>
          <p:cNvPr id="292" name="Google Shape;292;p11"/>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BIZ 1</a:t>
            </a:r>
            <a:endParaRPr b="0" i="0" sz="1500" u="none" cap="none" strike="noStrike">
              <a:solidFill>
                <a:schemeClr val="dk1"/>
              </a:solidFill>
              <a:latin typeface="Calibri"/>
              <a:ea typeface="Calibri"/>
              <a:cs typeface="Calibri"/>
              <a:sym typeface="Calibri"/>
            </a:endParaRPr>
          </a:p>
        </p:txBody>
      </p:sp>
      <p:sp>
        <p:nvSpPr>
          <p:cNvPr id="293" name="Google Shape;293;p11"/>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1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B4550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slide 10</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Conditional Average Treatment Effect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Q&amp;A backup   </a:t>
            </a:r>
            <a:r>
              <a:rPr b="1" i="0" lang="en-US" sz="1050" u="none" cap="none" strike="noStrike">
                <a:solidFill>
                  <a:srgbClr val="1F6F7A"/>
                </a:solidFill>
                <a:latin typeface="Calibri"/>
                <a:ea typeface="Calibri"/>
                <a:cs typeface="Calibri"/>
                <a:sym typeface="Calibri"/>
              </a:rPr>
              <a:t>DEV 1</a:t>
            </a:r>
            <a:endParaRPr b="0" i="0" sz="1050" u="none" cap="none" strike="noStrike">
              <a:solidFill>
                <a:schemeClr val="dk1"/>
              </a:solidFill>
              <a:latin typeface="Calibri"/>
              <a:ea typeface="Calibri"/>
              <a:cs typeface="Calibri"/>
              <a:sym typeface="Calibri"/>
            </a:endParaRPr>
          </a:p>
        </p:txBody>
      </p:sp>
      <p:sp>
        <p:nvSpPr>
          <p:cNvPr id="294" name="Google Shape;294;p11"/>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295" name="Google Shape;295;p11"/>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296" name="Google Shape;296;p11"/>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00" name="Shape 300"/>
        <p:cNvGrpSpPr/>
        <p:nvPr/>
      </p:nvGrpSpPr>
      <p:grpSpPr>
        <a:xfrm>
          <a:off x="0" y="0"/>
          <a:ext cx="0" cy="0"/>
          <a:chOff x="0" y="0"/>
          <a:chExt cx="0" cy="0"/>
        </a:xfrm>
      </p:grpSpPr>
      <p:sp>
        <p:nvSpPr>
          <p:cNvPr id="301" name="Google Shape;301;g3f6e8456e58_0_4"/>
          <p:cNvSpPr/>
          <p:nvPr/>
        </p:nvSpPr>
        <p:spPr>
          <a:xfrm>
            <a:off x="0" y="0"/>
            <a:ext cx="12192000" cy="1005900"/>
          </a:xfrm>
          <a:prstGeom prst="rect">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g3f6e8456e58_0_4"/>
          <p:cNvSpPr/>
          <p:nvPr/>
        </p:nvSpPr>
        <p:spPr>
          <a:xfrm>
            <a:off x="457212" y="164592"/>
            <a:ext cx="1645800" cy="292500"/>
          </a:xfrm>
          <a:prstGeom prst="roundRect">
            <a:avLst>
              <a:gd fmla="val 16667" name="adj"/>
            </a:avLst>
          </a:prstGeom>
          <a:solidFill>
            <a:srgbClr val="0EA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MODULE 1</a:t>
            </a:r>
            <a:endParaRPr/>
          </a:p>
        </p:txBody>
      </p:sp>
      <p:sp>
        <p:nvSpPr>
          <p:cNvPr id="303" name="Google Shape;303;g3f6e8456e58_0_4"/>
          <p:cNvSpPr txBox="1"/>
          <p:nvPr/>
        </p:nvSpPr>
        <p:spPr>
          <a:xfrm>
            <a:off x="2286061" y="109728"/>
            <a:ext cx="685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Causal Inference</a:t>
            </a:r>
            <a:endParaRPr/>
          </a:p>
        </p:txBody>
      </p:sp>
      <p:sp>
        <p:nvSpPr>
          <p:cNvPr id="304" name="Google Shape;304;g3f6e8456e58_0_4"/>
          <p:cNvSpPr/>
          <p:nvPr/>
        </p:nvSpPr>
        <p:spPr>
          <a:xfrm>
            <a:off x="9327129" y="164592"/>
            <a:ext cx="2377500" cy="676800"/>
          </a:xfrm>
          <a:prstGeom prst="roundRect">
            <a:avLst>
              <a:gd fmla="val 16667" name="adj"/>
            </a:avLst>
          </a:prstGeom>
          <a:solidFill>
            <a:srgbClr val="1E293B"/>
          </a:solidFill>
          <a:ln cap="flat" cmpd="sng" w="9525">
            <a:solidFill>
              <a:srgbClr val="0EA5E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DEV 1  |  1 min</a:t>
            </a:r>
            <a:endParaRPr/>
          </a:p>
          <a:p>
            <a:pPr indent="0" lvl="0" marL="0" marR="0" rtl="0" algn="l">
              <a:spcBef>
                <a:spcPts val="0"/>
              </a:spcBef>
              <a:spcAft>
                <a:spcPts val="0"/>
              </a:spcAft>
              <a:buNone/>
            </a:pPr>
            <a:r>
              <a:rPr b="0" i="0" lang="en-US" sz="1000" u="none" cap="none" strike="noStrike">
                <a:solidFill>
                  <a:srgbClr val="0EA5E9"/>
                </a:solidFill>
                <a:latin typeface="Calibri"/>
                <a:ea typeface="Calibri"/>
                <a:cs typeface="Calibri"/>
                <a:sym typeface="Calibri"/>
              </a:rPr>
              <a:t>Tech Level: ●●○</a:t>
            </a:r>
            <a:endParaRPr/>
          </a:p>
        </p:txBody>
      </p:sp>
      <p:sp>
        <p:nvSpPr>
          <p:cNvPr id="305" name="Google Shape;305;g3f6e8456e58_0_4"/>
          <p:cNvSpPr/>
          <p:nvPr/>
        </p:nvSpPr>
        <p:spPr>
          <a:xfrm>
            <a:off x="457212" y="1188720"/>
            <a:ext cx="5669700" cy="53034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274300" spcFirstLastPara="1" rIns="274300" wrap="square" tIns="274300">
            <a:noAutofit/>
          </a:bodyPr>
          <a:lstStyle/>
          <a:p>
            <a:pPr indent="0" lvl="0" marL="0" marR="0" rtl="0" algn="ctr">
              <a:spcBef>
                <a:spcPts val="0"/>
              </a:spcBef>
              <a:spcAft>
                <a:spcPts val="0"/>
              </a:spcAft>
              <a:buNone/>
            </a:pPr>
            <a:r>
              <a:rPr b="1" i="0" lang="en-US" sz="1300" u="none" cap="none" strike="noStrike">
                <a:solidFill>
                  <a:srgbClr val="0EA5E9"/>
                </a:solidFill>
                <a:latin typeface="Calibri"/>
                <a:ea typeface="Calibri"/>
                <a:cs typeface="Calibri"/>
                <a:sym typeface="Calibri"/>
              </a:rPr>
              <a:t>KEY CONCEPTS &amp; TAKEAWAYS</a:t>
            </a:r>
            <a:endParaRPr/>
          </a:p>
          <a:p>
            <a:pPr indent="0" lvl="0" marL="0" marR="0" rtl="0" algn="l">
              <a:spcBef>
                <a:spcPts val="0"/>
              </a:spcBef>
              <a:spcAft>
                <a:spcPts val="0"/>
              </a:spcAft>
              <a:buNone/>
            </a:pPr>
            <a:r>
              <a:rPr b="0" i="0" lang="en-US" sz="1200" u="none" cap="none" strike="noStrike">
                <a:solidFill>
                  <a:srgbClr val="1E293B"/>
                </a:solidFill>
                <a:latin typeface="Calibri"/>
                <a:ea typeface="Calibri"/>
                <a:cs typeface="Calibri"/>
                <a:sym typeface="Calibri"/>
              </a:rPr>
              <a:t>•  Causal Inference</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Neyman–Rubin causal model: each patient has two potential outcomes</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Y(1) = outcome if treated · Y(0) = outcome if untreated · 1 means the adverse event happens</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Unit treatment effect = Y(1) − Y(0), taking values −1, 0 or +1</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−1 = benefit · 0 = no effect · +1 = harm</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Four patient patterns exist: benefit, harm, and two kinds of no effect</a:t>
            </a:r>
            <a:endParaRPr/>
          </a:p>
        </p:txBody>
      </p:sp>
      <p:pic>
        <p:nvPicPr>
          <p:cNvPr descr="potential_outcomes_diagram.png" id="306" name="Google Shape;306;g3f6e8456e58_0_4"/>
          <p:cNvPicPr preferRelativeResize="0"/>
          <p:nvPr/>
        </p:nvPicPr>
        <p:blipFill rotWithShape="1">
          <a:blip r:embed="rId3">
            <a:alphaModFix/>
          </a:blip>
          <a:srcRect b="0" l="0" r="0" t="0"/>
          <a:stretch/>
        </p:blipFill>
        <p:spPr>
          <a:xfrm>
            <a:off x="6309528" y="1371600"/>
            <a:ext cx="5394959" cy="308283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10" name="Shape 310"/>
        <p:cNvGrpSpPr/>
        <p:nvPr/>
      </p:nvGrpSpPr>
      <p:grpSpPr>
        <a:xfrm>
          <a:off x="0" y="0"/>
          <a:ext cx="0" cy="0"/>
          <a:chOff x="0" y="0"/>
          <a:chExt cx="0" cy="0"/>
        </a:xfrm>
      </p:grpSpPr>
      <p:sp>
        <p:nvSpPr>
          <p:cNvPr id="311" name="Google Shape;311;g3f6e8456e58_0_13"/>
          <p:cNvSpPr/>
          <p:nvPr/>
        </p:nvSpPr>
        <p:spPr>
          <a:xfrm>
            <a:off x="0" y="0"/>
            <a:ext cx="12192000" cy="1005900"/>
          </a:xfrm>
          <a:prstGeom prst="rect">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g3f6e8456e58_0_13"/>
          <p:cNvSpPr/>
          <p:nvPr/>
        </p:nvSpPr>
        <p:spPr>
          <a:xfrm>
            <a:off x="457212" y="164592"/>
            <a:ext cx="1645800" cy="292500"/>
          </a:xfrm>
          <a:prstGeom prst="roundRect">
            <a:avLst>
              <a:gd fmla="val 16667" name="adj"/>
            </a:avLst>
          </a:prstGeom>
          <a:solidFill>
            <a:srgbClr val="0EA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MODULE 1</a:t>
            </a:r>
            <a:endParaRPr/>
          </a:p>
        </p:txBody>
      </p:sp>
      <p:sp>
        <p:nvSpPr>
          <p:cNvPr id="313" name="Google Shape;313;g3f6e8456e58_0_13"/>
          <p:cNvSpPr txBox="1"/>
          <p:nvPr/>
        </p:nvSpPr>
        <p:spPr>
          <a:xfrm>
            <a:off x="2286061" y="109728"/>
            <a:ext cx="685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Average Treatment Effect</a:t>
            </a:r>
            <a:endParaRPr/>
          </a:p>
        </p:txBody>
      </p:sp>
      <p:sp>
        <p:nvSpPr>
          <p:cNvPr id="314" name="Google Shape;314;g3f6e8456e58_0_13"/>
          <p:cNvSpPr/>
          <p:nvPr/>
        </p:nvSpPr>
        <p:spPr>
          <a:xfrm>
            <a:off x="9327129" y="164592"/>
            <a:ext cx="2377500" cy="676800"/>
          </a:xfrm>
          <a:prstGeom prst="roundRect">
            <a:avLst>
              <a:gd fmla="val 16667" name="adj"/>
            </a:avLst>
          </a:prstGeom>
          <a:solidFill>
            <a:srgbClr val="1E293B"/>
          </a:solidFill>
          <a:ln cap="flat" cmpd="sng" w="9525">
            <a:solidFill>
              <a:srgbClr val="0EA5E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DEV 1  |  1 min</a:t>
            </a:r>
            <a:endParaRPr/>
          </a:p>
          <a:p>
            <a:pPr indent="0" lvl="0" marL="0" marR="0" rtl="0" algn="l">
              <a:spcBef>
                <a:spcPts val="0"/>
              </a:spcBef>
              <a:spcAft>
                <a:spcPts val="0"/>
              </a:spcAft>
              <a:buNone/>
            </a:pPr>
            <a:r>
              <a:rPr b="0" i="0" lang="en-US" sz="1000" u="none" cap="none" strike="noStrike">
                <a:solidFill>
                  <a:srgbClr val="0EA5E9"/>
                </a:solidFill>
                <a:latin typeface="Calibri"/>
                <a:ea typeface="Calibri"/>
                <a:cs typeface="Calibri"/>
                <a:sym typeface="Calibri"/>
              </a:rPr>
              <a:t>Tech Level: ●●○</a:t>
            </a:r>
            <a:endParaRPr/>
          </a:p>
        </p:txBody>
      </p:sp>
      <p:sp>
        <p:nvSpPr>
          <p:cNvPr id="315" name="Google Shape;315;g3f6e8456e58_0_13"/>
          <p:cNvSpPr/>
          <p:nvPr/>
        </p:nvSpPr>
        <p:spPr>
          <a:xfrm>
            <a:off x="457212" y="1188720"/>
            <a:ext cx="5669700" cy="53034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274300" spcFirstLastPara="1" rIns="274300" wrap="square" tIns="274300">
            <a:noAutofit/>
          </a:bodyPr>
          <a:lstStyle/>
          <a:p>
            <a:pPr indent="0" lvl="0" marL="0" marR="0" rtl="0" algn="ctr">
              <a:spcBef>
                <a:spcPts val="0"/>
              </a:spcBef>
              <a:spcAft>
                <a:spcPts val="0"/>
              </a:spcAft>
              <a:buNone/>
            </a:pPr>
            <a:r>
              <a:rPr b="1" i="0" lang="en-US" sz="1300" u="none" cap="none" strike="noStrike">
                <a:solidFill>
                  <a:srgbClr val="0EA5E9"/>
                </a:solidFill>
                <a:latin typeface="Calibri"/>
                <a:ea typeface="Calibri"/>
                <a:cs typeface="Calibri"/>
                <a:sym typeface="Calibri"/>
              </a:rPr>
              <a:t>KEY CONCEPTS &amp; TAKEAWAYS</a:t>
            </a:r>
            <a:endParaRPr/>
          </a:p>
          <a:p>
            <a:pPr indent="0" lvl="0" marL="0" marR="0" rtl="0" algn="l">
              <a:spcBef>
                <a:spcPts val="0"/>
              </a:spcBef>
              <a:spcAft>
                <a:spcPts val="0"/>
              </a:spcAft>
              <a:buNone/>
            </a:pPr>
            <a:r>
              <a:rPr b="0" i="0" lang="en-US" sz="1200" u="none" cap="none" strike="noStrike">
                <a:solidFill>
                  <a:srgbClr val="1E293B"/>
                </a:solidFill>
                <a:latin typeface="Calibri"/>
                <a:ea typeface="Calibri"/>
                <a:cs typeface="Calibri"/>
                <a:sym typeface="Calibri"/>
              </a:rPr>
              <a:t>•  Average Treatment Effect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Fundamental problem of causal inference: only one potential outcome is ever observed</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The observed one is factual; the missing one is counterfactual</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ATE = E[Y(1) − Y(0)]; from RCT data, ATE = E[Y | W=1] − E[Y | W=0]</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Course example: 0.32 − 0.51 = −0.19, so the ATE is −0.19</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ARR = −ATE = 0.19, a 19% average reduction in risk</a:t>
            </a:r>
            <a:endParaRPr/>
          </a:p>
        </p:txBody>
      </p:sp>
      <p:pic>
        <p:nvPicPr>
          <p:cNvPr descr="g10_ate.png" id="316" name="Google Shape;316;g3f6e8456e58_0_13"/>
          <p:cNvPicPr preferRelativeResize="0"/>
          <p:nvPr/>
        </p:nvPicPr>
        <p:blipFill rotWithShape="1">
          <a:blip r:embed="rId3">
            <a:alphaModFix/>
          </a:blip>
          <a:srcRect b="0" l="0" r="0" t="0"/>
          <a:stretch/>
        </p:blipFill>
        <p:spPr>
          <a:xfrm>
            <a:off x="6309528" y="1371600"/>
            <a:ext cx="5394958" cy="29049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0" name="Shape 320"/>
        <p:cNvGrpSpPr/>
        <p:nvPr/>
      </p:nvGrpSpPr>
      <p:grpSpPr>
        <a:xfrm>
          <a:off x="0" y="0"/>
          <a:ext cx="0" cy="0"/>
          <a:chOff x="0" y="0"/>
          <a:chExt cx="0" cy="0"/>
        </a:xfrm>
      </p:grpSpPr>
      <p:sp>
        <p:nvSpPr>
          <p:cNvPr id="321" name="Google Shape;321;g3f6e8456e58_0_22"/>
          <p:cNvSpPr/>
          <p:nvPr/>
        </p:nvSpPr>
        <p:spPr>
          <a:xfrm>
            <a:off x="0" y="0"/>
            <a:ext cx="12192000" cy="1005900"/>
          </a:xfrm>
          <a:prstGeom prst="rect">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g3f6e8456e58_0_22"/>
          <p:cNvSpPr/>
          <p:nvPr/>
        </p:nvSpPr>
        <p:spPr>
          <a:xfrm>
            <a:off x="457212" y="164592"/>
            <a:ext cx="1645800" cy="292500"/>
          </a:xfrm>
          <a:prstGeom prst="roundRect">
            <a:avLst>
              <a:gd fmla="val 16667" name="adj"/>
            </a:avLst>
          </a:prstGeom>
          <a:solidFill>
            <a:srgbClr val="0EA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MODULE 1</a:t>
            </a:r>
            <a:endParaRPr/>
          </a:p>
        </p:txBody>
      </p:sp>
      <p:sp>
        <p:nvSpPr>
          <p:cNvPr id="323" name="Google Shape;323;g3f6e8456e58_0_22"/>
          <p:cNvSpPr txBox="1"/>
          <p:nvPr/>
        </p:nvSpPr>
        <p:spPr>
          <a:xfrm>
            <a:off x="2286061" y="109728"/>
            <a:ext cx="685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Conditional Average Treatment Effect</a:t>
            </a:r>
            <a:endParaRPr/>
          </a:p>
        </p:txBody>
      </p:sp>
      <p:sp>
        <p:nvSpPr>
          <p:cNvPr id="324" name="Google Shape;324;g3f6e8456e58_0_22"/>
          <p:cNvSpPr/>
          <p:nvPr/>
        </p:nvSpPr>
        <p:spPr>
          <a:xfrm>
            <a:off x="9327129" y="164592"/>
            <a:ext cx="2377500" cy="676800"/>
          </a:xfrm>
          <a:prstGeom prst="roundRect">
            <a:avLst>
              <a:gd fmla="val 16667" name="adj"/>
            </a:avLst>
          </a:prstGeom>
          <a:solidFill>
            <a:srgbClr val="1E293B"/>
          </a:solidFill>
          <a:ln cap="flat" cmpd="sng" w="9525">
            <a:solidFill>
              <a:srgbClr val="0EA5E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DEV 1  |  1 min</a:t>
            </a:r>
            <a:endParaRPr/>
          </a:p>
          <a:p>
            <a:pPr indent="0" lvl="0" marL="0" marR="0" rtl="0" algn="l">
              <a:spcBef>
                <a:spcPts val="0"/>
              </a:spcBef>
              <a:spcAft>
                <a:spcPts val="0"/>
              </a:spcAft>
              <a:buNone/>
            </a:pPr>
            <a:r>
              <a:rPr b="0" i="0" lang="en-US" sz="1000" u="none" cap="none" strike="noStrike">
                <a:solidFill>
                  <a:srgbClr val="0EA5E9"/>
                </a:solidFill>
                <a:latin typeface="Calibri"/>
                <a:ea typeface="Calibri"/>
                <a:cs typeface="Calibri"/>
                <a:sym typeface="Calibri"/>
              </a:rPr>
              <a:t>Tech Level: ●●○</a:t>
            </a:r>
            <a:endParaRPr/>
          </a:p>
        </p:txBody>
      </p:sp>
      <p:sp>
        <p:nvSpPr>
          <p:cNvPr id="325" name="Google Shape;325;g3f6e8456e58_0_22"/>
          <p:cNvSpPr/>
          <p:nvPr/>
        </p:nvSpPr>
        <p:spPr>
          <a:xfrm>
            <a:off x="457212" y="1188720"/>
            <a:ext cx="5669700" cy="53034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274300" spcFirstLastPara="1" rIns="274300" wrap="square" tIns="274300">
            <a:noAutofit/>
          </a:bodyPr>
          <a:lstStyle/>
          <a:p>
            <a:pPr indent="0" lvl="0" marL="0" marR="0" rtl="0" algn="ctr">
              <a:spcBef>
                <a:spcPts val="0"/>
              </a:spcBef>
              <a:spcAft>
                <a:spcPts val="0"/>
              </a:spcAft>
              <a:buNone/>
            </a:pPr>
            <a:r>
              <a:rPr b="1" i="0" lang="en-US" sz="1300" u="none" cap="none" strike="noStrike">
                <a:solidFill>
                  <a:srgbClr val="0EA5E9"/>
                </a:solidFill>
                <a:latin typeface="Calibri"/>
                <a:ea typeface="Calibri"/>
                <a:cs typeface="Calibri"/>
                <a:sym typeface="Calibri"/>
              </a:rPr>
              <a:t>KEY CONCEPTS &amp; TAKEAWAYS</a:t>
            </a:r>
            <a:endParaRPr/>
          </a:p>
          <a:p>
            <a:pPr indent="0" lvl="0" marL="0" marR="0" rtl="0" algn="l">
              <a:spcBef>
                <a:spcPts val="0"/>
              </a:spcBef>
              <a:spcAft>
                <a:spcPts val="0"/>
              </a:spcAft>
              <a:buNone/>
            </a:pPr>
            <a:r>
              <a:rPr b="0" i="0" lang="en-US" sz="1200" u="none" cap="none" strike="noStrike">
                <a:solidFill>
                  <a:srgbClr val="1E293B"/>
                </a:solidFill>
                <a:latin typeface="Calibri"/>
                <a:ea typeface="Calibri"/>
                <a:cs typeface="Calibri"/>
                <a:sym typeface="Calibri"/>
              </a:rPr>
              <a:t>•  Conditional Average Treatment Effect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CATE = E[Y(1) − Y(0) | X = x], the treatment effect conditioned on patient features</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Course example patient: x = (age 56, blood pressure 130)</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Exact matching fails: 0 treated and only 1 control patient match both values</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Solution: learn the relationship between features and outcome instead of matching</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Two learned functions: μ̂₁ treatment response, μ̂₀ control response</a:t>
            </a:r>
            <a:endParaRPr/>
          </a:p>
        </p:txBody>
      </p:sp>
      <p:pic>
        <p:nvPicPr>
          <p:cNvPr descr="g11_cate.png" id="326" name="Google Shape;326;g3f6e8456e58_0_22"/>
          <p:cNvPicPr preferRelativeResize="0"/>
          <p:nvPr/>
        </p:nvPicPr>
        <p:blipFill rotWithShape="1">
          <a:blip r:embed="rId3">
            <a:alphaModFix/>
          </a:blip>
          <a:srcRect b="0" l="0" r="0" t="0"/>
          <a:stretch/>
        </p:blipFill>
        <p:spPr>
          <a:xfrm>
            <a:off x="6309528" y="1371600"/>
            <a:ext cx="5394958" cy="290497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0" name="Shape 330"/>
        <p:cNvGrpSpPr/>
        <p:nvPr/>
      </p:nvGrpSpPr>
      <p:grpSpPr>
        <a:xfrm>
          <a:off x="0" y="0"/>
          <a:ext cx="0" cy="0"/>
          <a:chOff x="0" y="0"/>
          <a:chExt cx="0" cy="0"/>
        </a:xfrm>
      </p:grpSpPr>
      <p:sp>
        <p:nvSpPr>
          <p:cNvPr id="331" name="Google Shape;331;g3f6e8456e58_0_31"/>
          <p:cNvSpPr/>
          <p:nvPr/>
        </p:nvSpPr>
        <p:spPr>
          <a:xfrm>
            <a:off x="0" y="0"/>
            <a:ext cx="12192000" cy="1005900"/>
          </a:xfrm>
          <a:prstGeom prst="rect">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g3f6e8456e58_0_31"/>
          <p:cNvSpPr/>
          <p:nvPr/>
        </p:nvSpPr>
        <p:spPr>
          <a:xfrm>
            <a:off x="457212" y="164592"/>
            <a:ext cx="1645800" cy="292500"/>
          </a:xfrm>
          <a:prstGeom prst="roundRect">
            <a:avLst>
              <a:gd fmla="val 16667" name="adj"/>
            </a:avLst>
          </a:prstGeom>
          <a:solidFill>
            <a:srgbClr val="0EA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MODULE 1</a:t>
            </a:r>
            <a:endParaRPr/>
          </a:p>
        </p:txBody>
      </p:sp>
      <p:sp>
        <p:nvSpPr>
          <p:cNvPr id="333" name="Google Shape;333;g3f6e8456e58_0_31"/>
          <p:cNvSpPr txBox="1"/>
          <p:nvPr/>
        </p:nvSpPr>
        <p:spPr>
          <a:xfrm>
            <a:off x="2286061" y="109728"/>
            <a:ext cx="685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T-Learner</a:t>
            </a:r>
            <a:endParaRPr/>
          </a:p>
        </p:txBody>
      </p:sp>
      <p:sp>
        <p:nvSpPr>
          <p:cNvPr id="334" name="Google Shape;334;g3f6e8456e58_0_31"/>
          <p:cNvSpPr/>
          <p:nvPr/>
        </p:nvSpPr>
        <p:spPr>
          <a:xfrm>
            <a:off x="9327129" y="164592"/>
            <a:ext cx="2377500" cy="676800"/>
          </a:xfrm>
          <a:prstGeom prst="roundRect">
            <a:avLst>
              <a:gd fmla="val 16667" name="adj"/>
            </a:avLst>
          </a:prstGeom>
          <a:solidFill>
            <a:srgbClr val="1E293B"/>
          </a:solidFill>
          <a:ln cap="flat" cmpd="sng" w="9525">
            <a:solidFill>
              <a:srgbClr val="0EA5E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DEV 1  |  1 min</a:t>
            </a:r>
            <a:endParaRPr/>
          </a:p>
          <a:p>
            <a:pPr indent="0" lvl="0" marL="0" marR="0" rtl="0" algn="l">
              <a:spcBef>
                <a:spcPts val="0"/>
              </a:spcBef>
              <a:spcAft>
                <a:spcPts val="0"/>
              </a:spcAft>
              <a:buNone/>
            </a:pPr>
            <a:r>
              <a:rPr b="0" i="0" lang="en-US" sz="1000" u="none" cap="none" strike="noStrike">
                <a:solidFill>
                  <a:srgbClr val="0EA5E9"/>
                </a:solidFill>
                <a:latin typeface="Calibri"/>
                <a:ea typeface="Calibri"/>
                <a:cs typeface="Calibri"/>
                <a:sym typeface="Calibri"/>
              </a:rPr>
              <a:t>Tech Level: ●●○</a:t>
            </a:r>
            <a:endParaRPr/>
          </a:p>
        </p:txBody>
      </p:sp>
      <p:sp>
        <p:nvSpPr>
          <p:cNvPr id="335" name="Google Shape;335;g3f6e8456e58_0_31"/>
          <p:cNvSpPr/>
          <p:nvPr/>
        </p:nvSpPr>
        <p:spPr>
          <a:xfrm>
            <a:off x="457212" y="1188720"/>
            <a:ext cx="5669700" cy="53034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274300" spcFirstLastPara="1" rIns="274300" wrap="square" tIns="274300">
            <a:noAutofit/>
          </a:bodyPr>
          <a:lstStyle/>
          <a:p>
            <a:pPr indent="0" lvl="0" marL="0" marR="0" rtl="0" algn="ctr">
              <a:spcBef>
                <a:spcPts val="0"/>
              </a:spcBef>
              <a:spcAft>
                <a:spcPts val="0"/>
              </a:spcAft>
              <a:buNone/>
            </a:pPr>
            <a:r>
              <a:rPr b="1" i="0" lang="en-US" sz="1300" u="none" cap="none" strike="noStrike">
                <a:solidFill>
                  <a:srgbClr val="0EA5E9"/>
                </a:solidFill>
                <a:latin typeface="Calibri"/>
                <a:ea typeface="Calibri"/>
                <a:cs typeface="Calibri"/>
                <a:sym typeface="Calibri"/>
              </a:rPr>
              <a:t>KEY CONCEPTS &amp; TAKEAWAYS</a:t>
            </a:r>
            <a:endParaRPr/>
          </a:p>
          <a:p>
            <a:pPr indent="0" lvl="0" marL="0" marR="0" rtl="0" algn="l">
              <a:spcBef>
                <a:spcPts val="0"/>
              </a:spcBef>
              <a:spcAft>
                <a:spcPts val="0"/>
              </a:spcAft>
              <a:buNone/>
            </a:pPr>
            <a:r>
              <a:rPr b="0" i="0" lang="en-US" sz="1200" u="none" cap="none" strike="noStrike">
                <a:solidFill>
                  <a:srgbClr val="1E293B"/>
                </a:solidFill>
                <a:latin typeface="Calibri"/>
                <a:ea typeface="Calibri"/>
                <a:cs typeface="Calibri"/>
                <a:sym typeface="Calibri"/>
              </a:rPr>
              <a:t>•  Also called the two-tree method; μ̂₁ and μ̂₀ are fitted separately</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μ̂₁ is trained only on treated patients, μ̂₀ only on control patients</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CATE(x) = μ̂₁(x) − μ̂₀(x)</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Base learners are free: decision trees, linear models, or two different types</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Course example: 0.21 − 0.45 = −0.24, a predicted benefit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Diagram: two model boxes side by side</a:t>
            </a:r>
            <a:endParaRPr/>
          </a:p>
        </p:txBody>
      </p:sp>
      <p:pic>
        <p:nvPicPr>
          <p:cNvPr descr="t_learner_structure.png" id="336" name="Google Shape;336;g3f6e8456e58_0_31"/>
          <p:cNvPicPr preferRelativeResize="0"/>
          <p:nvPr/>
        </p:nvPicPr>
        <p:blipFill rotWithShape="1">
          <a:blip r:embed="rId3">
            <a:alphaModFix/>
          </a:blip>
          <a:srcRect b="0" l="0" r="0" t="0"/>
          <a:stretch/>
        </p:blipFill>
        <p:spPr>
          <a:xfrm>
            <a:off x="6309528" y="1371600"/>
            <a:ext cx="5394959" cy="308283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0" name="Shape 340"/>
        <p:cNvGrpSpPr/>
        <p:nvPr/>
      </p:nvGrpSpPr>
      <p:grpSpPr>
        <a:xfrm>
          <a:off x="0" y="0"/>
          <a:ext cx="0" cy="0"/>
          <a:chOff x="0" y="0"/>
          <a:chExt cx="0" cy="0"/>
        </a:xfrm>
      </p:grpSpPr>
      <p:sp>
        <p:nvSpPr>
          <p:cNvPr id="341" name="Google Shape;341;g3f6e8456e58_0_40"/>
          <p:cNvSpPr/>
          <p:nvPr/>
        </p:nvSpPr>
        <p:spPr>
          <a:xfrm>
            <a:off x="0" y="0"/>
            <a:ext cx="12192000" cy="1005900"/>
          </a:xfrm>
          <a:prstGeom prst="rect">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g3f6e8456e58_0_40"/>
          <p:cNvSpPr/>
          <p:nvPr/>
        </p:nvSpPr>
        <p:spPr>
          <a:xfrm>
            <a:off x="457212" y="164592"/>
            <a:ext cx="1645800" cy="292500"/>
          </a:xfrm>
          <a:prstGeom prst="roundRect">
            <a:avLst>
              <a:gd fmla="val 16667" name="adj"/>
            </a:avLst>
          </a:prstGeom>
          <a:solidFill>
            <a:srgbClr val="0EA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MODULE 1</a:t>
            </a:r>
            <a:endParaRPr/>
          </a:p>
        </p:txBody>
      </p:sp>
      <p:sp>
        <p:nvSpPr>
          <p:cNvPr id="343" name="Google Shape;343;g3f6e8456e58_0_40"/>
          <p:cNvSpPr txBox="1"/>
          <p:nvPr/>
        </p:nvSpPr>
        <p:spPr>
          <a:xfrm>
            <a:off x="2286061" y="109728"/>
            <a:ext cx="685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S-Learner</a:t>
            </a:r>
            <a:endParaRPr/>
          </a:p>
        </p:txBody>
      </p:sp>
      <p:sp>
        <p:nvSpPr>
          <p:cNvPr id="344" name="Google Shape;344;g3f6e8456e58_0_40"/>
          <p:cNvSpPr/>
          <p:nvPr/>
        </p:nvSpPr>
        <p:spPr>
          <a:xfrm>
            <a:off x="9327129" y="164592"/>
            <a:ext cx="2377500" cy="676800"/>
          </a:xfrm>
          <a:prstGeom prst="roundRect">
            <a:avLst>
              <a:gd fmla="val 16667" name="adj"/>
            </a:avLst>
          </a:prstGeom>
          <a:solidFill>
            <a:srgbClr val="1E293B"/>
          </a:solidFill>
          <a:ln cap="flat" cmpd="sng" w="9525">
            <a:solidFill>
              <a:srgbClr val="0EA5E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DEV 1  |  1 min</a:t>
            </a:r>
            <a:endParaRPr/>
          </a:p>
          <a:p>
            <a:pPr indent="0" lvl="0" marL="0" marR="0" rtl="0" algn="l">
              <a:spcBef>
                <a:spcPts val="0"/>
              </a:spcBef>
              <a:spcAft>
                <a:spcPts val="0"/>
              </a:spcAft>
              <a:buNone/>
            </a:pPr>
            <a:r>
              <a:rPr b="0" i="0" lang="en-US" sz="1000" u="none" cap="none" strike="noStrike">
                <a:solidFill>
                  <a:srgbClr val="0EA5E9"/>
                </a:solidFill>
                <a:latin typeface="Calibri"/>
                <a:ea typeface="Calibri"/>
                <a:cs typeface="Calibri"/>
                <a:sym typeface="Calibri"/>
              </a:rPr>
              <a:t>Tech Level: ●●○</a:t>
            </a:r>
            <a:endParaRPr/>
          </a:p>
        </p:txBody>
      </p:sp>
      <p:sp>
        <p:nvSpPr>
          <p:cNvPr id="345" name="Google Shape;345;g3f6e8456e58_0_40"/>
          <p:cNvSpPr/>
          <p:nvPr/>
        </p:nvSpPr>
        <p:spPr>
          <a:xfrm>
            <a:off x="457212" y="1188720"/>
            <a:ext cx="5669700" cy="53034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274300" spcFirstLastPara="1" rIns="274300" wrap="square" tIns="274300">
            <a:noAutofit/>
          </a:bodyPr>
          <a:lstStyle/>
          <a:p>
            <a:pPr indent="0" lvl="0" marL="0" marR="0" rtl="0" algn="ctr">
              <a:spcBef>
                <a:spcPts val="0"/>
              </a:spcBef>
              <a:spcAft>
                <a:spcPts val="0"/>
              </a:spcAft>
              <a:buNone/>
            </a:pPr>
            <a:r>
              <a:rPr b="1" i="0" lang="en-US" sz="1300" u="none" cap="none" strike="noStrike">
                <a:solidFill>
                  <a:srgbClr val="0EA5E9"/>
                </a:solidFill>
                <a:latin typeface="Calibri"/>
                <a:ea typeface="Calibri"/>
                <a:cs typeface="Calibri"/>
                <a:sym typeface="Calibri"/>
              </a:rPr>
              <a:t>KEY CONCEPTS &amp; TAKEAWAYS</a:t>
            </a:r>
            <a:endParaRPr/>
          </a:p>
          <a:p>
            <a:pPr indent="0" lvl="0" marL="0" marR="0" rtl="0" algn="l">
              <a:spcBef>
                <a:spcPts val="0"/>
              </a:spcBef>
              <a:spcAft>
                <a:spcPts val="0"/>
              </a:spcAft>
              <a:buNone/>
            </a:pPr>
            <a:r>
              <a:rPr b="0" i="0" lang="en-US" sz="1200" u="none" cap="none" strike="noStrike">
                <a:solidFill>
                  <a:srgbClr val="1E293B"/>
                </a:solidFill>
                <a:latin typeface="Calibri"/>
                <a:ea typeface="Calibri"/>
                <a:cs typeface="Calibri"/>
                <a:sym typeface="Calibri"/>
              </a:rPr>
              <a:t>•  Also called the single-tree method; one model μ̂(X, W) for both arms</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Treatment W is included as an ordinary feature alongside age and blood pressure</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CATE(x) = μ̂(x, W=1) − μ̂(x, W=0), evaluating the same model twice</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Course example: 0.4 − 0.5 = −0.1</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Failure mode: if the tree never splits on W it returns 0.45 both times, so the effect is 0 for every patient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Diagram: one model, evaluated twice</a:t>
            </a:r>
            <a:endParaRPr/>
          </a:p>
        </p:txBody>
      </p:sp>
      <p:pic>
        <p:nvPicPr>
          <p:cNvPr descr="g13_s_learner.png" id="346" name="Google Shape;346;g3f6e8456e58_0_40"/>
          <p:cNvPicPr preferRelativeResize="0"/>
          <p:nvPr/>
        </p:nvPicPr>
        <p:blipFill rotWithShape="1">
          <a:blip r:embed="rId3">
            <a:alphaModFix/>
          </a:blip>
          <a:srcRect b="0" l="0" r="0" t="0"/>
          <a:stretch/>
        </p:blipFill>
        <p:spPr>
          <a:xfrm>
            <a:off x="6309528" y="1371600"/>
            <a:ext cx="5394959" cy="269748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50" name="Shape 350"/>
        <p:cNvGrpSpPr/>
        <p:nvPr/>
      </p:nvGrpSpPr>
      <p:grpSpPr>
        <a:xfrm>
          <a:off x="0" y="0"/>
          <a:ext cx="0" cy="0"/>
          <a:chOff x="0" y="0"/>
          <a:chExt cx="0" cy="0"/>
        </a:xfrm>
      </p:grpSpPr>
      <p:sp>
        <p:nvSpPr>
          <p:cNvPr id="351" name="Google Shape;351;g3f6e8456e58_0_49"/>
          <p:cNvSpPr/>
          <p:nvPr/>
        </p:nvSpPr>
        <p:spPr>
          <a:xfrm>
            <a:off x="0" y="0"/>
            <a:ext cx="12192000" cy="1005900"/>
          </a:xfrm>
          <a:prstGeom prst="rect">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g3f6e8456e58_0_49"/>
          <p:cNvSpPr/>
          <p:nvPr/>
        </p:nvSpPr>
        <p:spPr>
          <a:xfrm>
            <a:off x="457212" y="164592"/>
            <a:ext cx="1645800" cy="292500"/>
          </a:xfrm>
          <a:prstGeom prst="roundRect">
            <a:avLst>
              <a:gd fmla="val 16667" name="adj"/>
            </a:avLst>
          </a:prstGeom>
          <a:solidFill>
            <a:srgbClr val="0EA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MODULE 1</a:t>
            </a:r>
            <a:endParaRPr/>
          </a:p>
        </p:txBody>
      </p:sp>
      <p:sp>
        <p:nvSpPr>
          <p:cNvPr id="353" name="Google Shape;353;g3f6e8456e58_0_49"/>
          <p:cNvSpPr txBox="1"/>
          <p:nvPr/>
        </p:nvSpPr>
        <p:spPr>
          <a:xfrm>
            <a:off x="2286061" y="109728"/>
            <a:ext cx="685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Evaluate Individualized Treatment Effect</a:t>
            </a:r>
            <a:endParaRPr/>
          </a:p>
        </p:txBody>
      </p:sp>
      <p:sp>
        <p:nvSpPr>
          <p:cNvPr id="354" name="Google Shape;354;g3f6e8456e58_0_49"/>
          <p:cNvSpPr/>
          <p:nvPr/>
        </p:nvSpPr>
        <p:spPr>
          <a:xfrm>
            <a:off x="9327129" y="164592"/>
            <a:ext cx="2377500" cy="676800"/>
          </a:xfrm>
          <a:prstGeom prst="roundRect">
            <a:avLst>
              <a:gd fmla="val 16667" name="adj"/>
            </a:avLst>
          </a:prstGeom>
          <a:solidFill>
            <a:srgbClr val="1E293B"/>
          </a:solidFill>
          <a:ln cap="flat" cmpd="sng" w="9525">
            <a:solidFill>
              <a:srgbClr val="0EA5E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DEV 1  |  1 min</a:t>
            </a:r>
            <a:endParaRPr/>
          </a:p>
          <a:p>
            <a:pPr indent="0" lvl="0" marL="0" marR="0" rtl="0" algn="l">
              <a:spcBef>
                <a:spcPts val="0"/>
              </a:spcBef>
              <a:spcAft>
                <a:spcPts val="0"/>
              </a:spcAft>
              <a:buNone/>
            </a:pPr>
            <a:r>
              <a:rPr b="0" i="0" lang="en-US" sz="1000" u="none" cap="none" strike="noStrike">
                <a:solidFill>
                  <a:srgbClr val="0EA5E9"/>
                </a:solidFill>
                <a:latin typeface="Calibri"/>
                <a:ea typeface="Calibri"/>
                <a:cs typeface="Calibri"/>
                <a:sym typeface="Calibri"/>
              </a:rPr>
              <a:t>Tech Level: ●●○</a:t>
            </a:r>
            <a:endParaRPr/>
          </a:p>
        </p:txBody>
      </p:sp>
      <p:sp>
        <p:nvSpPr>
          <p:cNvPr id="355" name="Google Shape;355;g3f6e8456e58_0_49"/>
          <p:cNvSpPr/>
          <p:nvPr/>
        </p:nvSpPr>
        <p:spPr>
          <a:xfrm>
            <a:off x="457212" y="1188720"/>
            <a:ext cx="5669700" cy="53034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274300" spcFirstLastPara="1" rIns="274300" wrap="square" tIns="274300">
            <a:noAutofit/>
          </a:bodyPr>
          <a:lstStyle/>
          <a:p>
            <a:pPr indent="0" lvl="0" marL="0" marR="0" rtl="0" algn="ctr">
              <a:spcBef>
                <a:spcPts val="0"/>
              </a:spcBef>
              <a:spcAft>
                <a:spcPts val="0"/>
              </a:spcAft>
              <a:buNone/>
            </a:pPr>
            <a:r>
              <a:rPr b="1" i="0" lang="en-US" sz="1300" u="none" cap="none" strike="noStrike">
                <a:solidFill>
                  <a:srgbClr val="0EA5E9"/>
                </a:solidFill>
                <a:latin typeface="Calibri"/>
                <a:ea typeface="Calibri"/>
                <a:cs typeface="Calibri"/>
                <a:sym typeface="Calibri"/>
              </a:rPr>
              <a:t>KEY CONCEPTS &amp; TAKEAWAYS</a:t>
            </a:r>
            <a:endParaRPr/>
          </a:p>
          <a:p>
            <a:pPr indent="0" lvl="0" marL="0" marR="0" rtl="0" algn="l">
              <a:spcBef>
                <a:spcPts val="0"/>
              </a:spcBef>
              <a:spcAft>
                <a:spcPts val="0"/>
              </a:spcAft>
              <a:buNone/>
            </a:pPr>
            <a:r>
              <a:rPr b="0" i="0" lang="en-US" sz="1200" u="none" cap="none" strike="noStrike">
                <a:solidFill>
                  <a:srgbClr val="1E293B"/>
                </a:solidFill>
                <a:latin typeface="Calibri"/>
                <a:ea typeface="Calibri"/>
                <a:cs typeface="Calibri"/>
                <a:sym typeface="Calibri"/>
              </a:rPr>
              <a:t>•  Evaluate Individualized Treatment Effect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We can never observe one patient under both arms, so there is no direct ground truth</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Fix: match each treated patient with a control patient and treat the pair as one unit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Two matching options: match on features, or match on the estimated treatment effect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Pair outcome y_d = Y(1) − Y(0) ∈ {−1 benefit, 0 no effect, +1 harm}</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Pair prediction = the average of the two patients’ individual effect estimates</a:t>
            </a:r>
            <a:endParaRPr/>
          </a:p>
        </p:txBody>
      </p:sp>
      <p:pic>
        <p:nvPicPr>
          <p:cNvPr descr="matched_pairs_concept.png" id="356" name="Google Shape;356;g3f6e8456e58_0_49"/>
          <p:cNvPicPr preferRelativeResize="0"/>
          <p:nvPr/>
        </p:nvPicPr>
        <p:blipFill rotWithShape="1">
          <a:blip r:embed="rId3">
            <a:alphaModFix/>
          </a:blip>
          <a:srcRect b="0" l="0" r="0" t="0"/>
          <a:stretch/>
        </p:blipFill>
        <p:spPr>
          <a:xfrm>
            <a:off x="6309528" y="1371600"/>
            <a:ext cx="5394959" cy="308283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0" name="Shape 360"/>
        <p:cNvGrpSpPr/>
        <p:nvPr/>
      </p:nvGrpSpPr>
      <p:grpSpPr>
        <a:xfrm>
          <a:off x="0" y="0"/>
          <a:ext cx="0" cy="0"/>
          <a:chOff x="0" y="0"/>
          <a:chExt cx="0" cy="0"/>
        </a:xfrm>
      </p:grpSpPr>
      <p:sp>
        <p:nvSpPr>
          <p:cNvPr id="361" name="Google Shape;361;g3f6e8456e58_0_58"/>
          <p:cNvSpPr/>
          <p:nvPr/>
        </p:nvSpPr>
        <p:spPr>
          <a:xfrm>
            <a:off x="0" y="0"/>
            <a:ext cx="12192000" cy="1005900"/>
          </a:xfrm>
          <a:prstGeom prst="rect">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g3f6e8456e58_0_58"/>
          <p:cNvSpPr/>
          <p:nvPr/>
        </p:nvSpPr>
        <p:spPr>
          <a:xfrm>
            <a:off x="457212" y="164592"/>
            <a:ext cx="1645800" cy="292500"/>
          </a:xfrm>
          <a:prstGeom prst="roundRect">
            <a:avLst>
              <a:gd fmla="val 16667" name="adj"/>
            </a:avLst>
          </a:prstGeom>
          <a:solidFill>
            <a:srgbClr val="0EA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MODULE 1</a:t>
            </a:r>
            <a:endParaRPr/>
          </a:p>
        </p:txBody>
      </p:sp>
      <p:sp>
        <p:nvSpPr>
          <p:cNvPr id="363" name="Google Shape;363;g3f6e8456e58_0_58"/>
          <p:cNvSpPr txBox="1"/>
          <p:nvPr/>
        </p:nvSpPr>
        <p:spPr>
          <a:xfrm>
            <a:off x="2286061" y="109728"/>
            <a:ext cx="685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C-for-benefit</a:t>
            </a:r>
            <a:endParaRPr/>
          </a:p>
        </p:txBody>
      </p:sp>
      <p:sp>
        <p:nvSpPr>
          <p:cNvPr id="364" name="Google Shape;364;g3f6e8456e58_0_58"/>
          <p:cNvSpPr/>
          <p:nvPr/>
        </p:nvSpPr>
        <p:spPr>
          <a:xfrm>
            <a:off x="9327129" y="164592"/>
            <a:ext cx="2377500" cy="676800"/>
          </a:xfrm>
          <a:prstGeom prst="roundRect">
            <a:avLst>
              <a:gd fmla="val 16667" name="adj"/>
            </a:avLst>
          </a:prstGeom>
          <a:solidFill>
            <a:srgbClr val="1E293B"/>
          </a:solidFill>
          <a:ln cap="flat" cmpd="sng" w="9525">
            <a:solidFill>
              <a:srgbClr val="0EA5E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DEV 1  |  1 min</a:t>
            </a:r>
            <a:endParaRPr/>
          </a:p>
          <a:p>
            <a:pPr indent="0" lvl="0" marL="0" marR="0" rtl="0" algn="l">
              <a:spcBef>
                <a:spcPts val="0"/>
              </a:spcBef>
              <a:spcAft>
                <a:spcPts val="0"/>
              </a:spcAft>
              <a:buNone/>
            </a:pPr>
            <a:r>
              <a:rPr b="0" i="0" lang="en-US" sz="1000" u="none" cap="none" strike="noStrike">
                <a:solidFill>
                  <a:srgbClr val="0EA5E9"/>
                </a:solidFill>
                <a:latin typeface="Calibri"/>
                <a:ea typeface="Calibri"/>
                <a:cs typeface="Calibri"/>
                <a:sym typeface="Calibri"/>
              </a:rPr>
              <a:t>Tech Level: ●●○</a:t>
            </a:r>
            <a:endParaRPr/>
          </a:p>
        </p:txBody>
      </p:sp>
      <p:sp>
        <p:nvSpPr>
          <p:cNvPr id="365" name="Google Shape;365;g3f6e8456e58_0_58"/>
          <p:cNvSpPr/>
          <p:nvPr/>
        </p:nvSpPr>
        <p:spPr>
          <a:xfrm>
            <a:off x="457212" y="1188720"/>
            <a:ext cx="5669700" cy="53034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274300" spcFirstLastPara="1" rIns="274300" wrap="square" tIns="274300">
            <a:noAutofit/>
          </a:bodyPr>
          <a:lstStyle/>
          <a:p>
            <a:pPr indent="0" lvl="0" marL="0" marR="0" rtl="0" algn="ctr">
              <a:spcBef>
                <a:spcPts val="0"/>
              </a:spcBef>
              <a:spcAft>
                <a:spcPts val="0"/>
              </a:spcAft>
              <a:buNone/>
            </a:pPr>
            <a:r>
              <a:rPr b="1" i="0" lang="en-US" sz="1300" u="none" cap="none" strike="noStrike">
                <a:solidFill>
                  <a:srgbClr val="0EA5E9"/>
                </a:solidFill>
                <a:latin typeface="Calibri"/>
                <a:ea typeface="Calibri"/>
                <a:cs typeface="Calibri"/>
                <a:sym typeface="Calibri"/>
              </a:rPr>
              <a:t>KEY CONCEPTS &amp; TAKEAWAYS</a:t>
            </a:r>
            <a:endParaRPr/>
          </a:p>
          <a:p>
            <a:pPr indent="0" lvl="0" marL="0" marR="0" rtl="0" algn="l">
              <a:spcBef>
                <a:spcPts val="0"/>
              </a:spcBef>
              <a:spcAft>
                <a:spcPts val="0"/>
              </a:spcAft>
              <a:buNone/>
            </a:pPr>
            <a:r>
              <a:rPr b="0" i="0" lang="en-US" sz="1200" u="none" cap="none" strike="noStrike">
                <a:solidFill>
                  <a:srgbClr val="1E293B"/>
                </a:solidFill>
                <a:latin typeface="Calibri"/>
                <a:ea typeface="Calibri"/>
                <a:cs typeface="Calibri"/>
                <a:sym typeface="Calibri"/>
              </a:rPr>
              <a:t>•  C-for-benefit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Same idea as the C-index, but applied to pairs of matched pairs</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The outcome now takes three values (−1, 0, +1) rather than two</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A negative outcome is an observed benefit, matching a negative estimate as a predicted benefit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Permissible = the two matched pairs have different outcomes; ties on outcome cannot be ranked</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C-for-benefit = (concordant + 0.5 × risk ties) / permissible</a:t>
            </a:r>
            <a:endParaRPr/>
          </a:p>
        </p:txBody>
      </p:sp>
      <p:pic>
        <p:nvPicPr>
          <p:cNvPr descr="g15_matched_table.png" id="366" name="Google Shape;366;g3f6e8456e58_0_58"/>
          <p:cNvPicPr preferRelativeResize="0"/>
          <p:nvPr/>
        </p:nvPicPr>
        <p:blipFill rotWithShape="1">
          <a:blip r:embed="rId3">
            <a:alphaModFix/>
          </a:blip>
          <a:srcRect b="0" l="0" r="0" t="0"/>
          <a:stretch/>
        </p:blipFill>
        <p:spPr>
          <a:xfrm>
            <a:off x="6309528" y="1371600"/>
            <a:ext cx="5394959" cy="26974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70" name="Shape 370"/>
        <p:cNvGrpSpPr/>
        <p:nvPr/>
      </p:nvGrpSpPr>
      <p:grpSpPr>
        <a:xfrm>
          <a:off x="0" y="0"/>
          <a:ext cx="0" cy="0"/>
          <a:chOff x="0" y="0"/>
          <a:chExt cx="0" cy="0"/>
        </a:xfrm>
      </p:grpSpPr>
      <p:sp>
        <p:nvSpPr>
          <p:cNvPr id="371" name="Google Shape;371;g3f6e8456e58_0_67"/>
          <p:cNvSpPr/>
          <p:nvPr/>
        </p:nvSpPr>
        <p:spPr>
          <a:xfrm>
            <a:off x="0" y="0"/>
            <a:ext cx="12192000" cy="1005900"/>
          </a:xfrm>
          <a:prstGeom prst="rect">
            <a:avLst/>
          </a:prstGeom>
          <a:solidFill>
            <a:srgbClr val="0F172A"/>
          </a:solidFill>
          <a:ln cap="flat" cmpd="sng" w="9525">
            <a:solidFill>
              <a:srgbClr val="0F172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g3f6e8456e58_0_67"/>
          <p:cNvSpPr/>
          <p:nvPr/>
        </p:nvSpPr>
        <p:spPr>
          <a:xfrm>
            <a:off x="457212" y="164592"/>
            <a:ext cx="1645800" cy="292500"/>
          </a:xfrm>
          <a:prstGeom prst="roundRect">
            <a:avLst>
              <a:gd fmla="val 16667" name="adj"/>
            </a:avLst>
          </a:prstGeom>
          <a:solidFill>
            <a:srgbClr val="0EA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MODULE 1</a:t>
            </a:r>
            <a:endParaRPr/>
          </a:p>
        </p:txBody>
      </p:sp>
      <p:sp>
        <p:nvSpPr>
          <p:cNvPr id="373" name="Google Shape;373;g3f6e8456e58_0_67"/>
          <p:cNvSpPr txBox="1"/>
          <p:nvPr/>
        </p:nvSpPr>
        <p:spPr>
          <a:xfrm>
            <a:off x="2286061" y="109728"/>
            <a:ext cx="6858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Module 1 Summary</a:t>
            </a:r>
            <a:endParaRPr/>
          </a:p>
        </p:txBody>
      </p:sp>
      <p:sp>
        <p:nvSpPr>
          <p:cNvPr id="374" name="Google Shape;374;g3f6e8456e58_0_67"/>
          <p:cNvSpPr/>
          <p:nvPr/>
        </p:nvSpPr>
        <p:spPr>
          <a:xfrm>
            <a:off x="9327129" y="164592"/>
            <a:ext cx="2377500" cy="676800"/>
          </a:xfrm>
          <a:prstGeom prst="roundRect">
            <a:avLst>
              <a:gd fmla="val 16667" name="adj"/>
            </a:avLst>
          </a:prstGeom>
          <a:solidFill>
            <a:srgbClr val="1E293B"/>
          </a:solidFill>
          <a:ln cap="flat" cmpd="sng" w="9525">
            <a:solidFill>
              <a:srgbClr val="0EA5E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DEV 1  |  1 min</a:t>
            </a:r>
            <a:endParaRPr/>
          </a:p>
          <a:p>
            <a:pPr indent="0" lvl="0" marL="0" marR="0" rtl="0" algn="l">
              <a:spcBef>
                <a:spcPts val="0"/>
              </a:spcBef>
              <a:spcAft>
                <a:spcPts val="0"/>
              </a:spcAft>
              <a:buNone/>
            </a:pPr>
            <a:r>
              <a:rPr b="0" i="0" lang="en-US" sz="1000" u="none" cap="none" strike="noStrike">
                <a:solidFill>
                  <a:srgbClr val="0EA5E9"/>
                </a:solidFill>
                <a:latin typeface="Calibri"/>
                <a:ea typeface="Calibri"/>
                <a:cs typeface="Calibri"/>
                <a:sym typeface="Calibri"/>
              </a:rPr>
              <a:t>Tech Level: ●●○</a:t>
            </a:r>
            <a:endParaRPr/>
          </a:p>
        </p:txBody>
      </p:sp>
      <p:sp>
        <p:nvSpPr>
          <p:cNvPr id="375" name="Google Shape;375;g3f6e8456e58_0_67"/>
          <p:cNvSpPr/>
          <p:nvPr/>
        </p:nvSpPr>
        <p:spPr>
          <a:xfrm>
            <a:off x="457212" y="1188720"/>
            <a:ext cx="5669700" cy="5303400"/>
          </a:xfrm>
          <a:prstGeom prst="roundRect">
            <a:avLst>
              <a:gd fmla="val 16667" name="adj"/>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274300" spcFirstLastPara="1" rIns="274300" wrap="square" tIns="274300">
            <a:noAutofit/>
          </a:bodyPr>
          <a:lstStyle/>
          <a:p>
            <a:pPr indent="0" lvl="0" marL="0" marR="0" rtl="0" algn="ctr">
              <a:spcBef>
                <a:spcPts val="0"/>
              </a:spcBef>
              <a:spcAft>
                <a:spcPts val="0"/>
              </a:spcAft>
              <a:buNone/>
            </a:pPr>
            <a:r>
              <a:rPr b="1" i="0" lang="en-US" sz="1300" u="none" cap="none" strike="noStrike">
                <a:solidFill>
                  <a:srgbClr val="0EA5E9"/>
                </a:solidFill>
                <a:latin typeface="Calibri"/>
                <a:ea typeface="Calibri"/>
                <a:cs typeface="Calibri"/>
                <a:sym typeface="Calibri"/>
              </a:rPr>
              <a:t>KEY CONCEPTS &amp; TAKEAWAYS</a:t>
            </a:r>
            <a:endParaRPr/>
          </a:p>
          <a:p>
            <a:pPr indent="0" lvl="0" marL="0" marR="0" rtl="0" algn="l">
              <a:spcBef>
                <a:spcPts val="0"/>
              </a:spcBef>
              <a:spcAft>
                <a:spcPts val="0"/>
              </a:spcAft>
              <a:buNone/>
            </a:pPr>
            <a:r>
              <a:rPr b="0" i="0" lang="en-US" sz="1200" u="none" cap="none" strike="noStrike">
                <a:solidFill>
                  <a:srgbClr val="1E293B"/>
                </a:solidFill>
                <a:latin typeface="Calibri"/>
                <a:ea typeface="Calibri"/>
                <a:cs typeface="Calibri"/>
                <a:sym typeface="Calibri"/>
              </a:rPr>
              <a:t>•  Module 1 Summary</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ARR and NNT express treatment benefit in the language clinicians already use</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ATE is the population effect; CATE conditions it on the individual patient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T-learner and S-learner are the two simplest ways to estimate CATE with ML</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C-for-benefit tests whether predicted benefit matches observed benefit</a:t>
            </a:r>
            <a:endParaRPr/>
          </a:p>
          <a:p>
            <a:pPr indent="0" lvl="0" marL="0" marR="0" rtl="0" algn="l">
              <a:spcBef>
                <a:spcPts val="800"/>
              </a:spcBef>
              <a:spcAft>
                <a:spcPts val="0"/>
              </a:spcAft>
              <a:buNone/>
            </a:pPr>
            <a:r>
              <a:rPr b="0" i="0" lang="en-US" sz="1200" u="none" cap="none" strike="noStrike">
                <a:solidFill>
                  <a:srgbClr val="1E293B"/>
                </a:solidFill>
                <a:latin typeface="Calibri"/>
                <a:ea typeface="Calibri"/>
                <a:cs typeface="Calibri"/>
                <a:sym typeface="Calibri"/>
              </a:rPr>
              <a:t>•  AI For Medical Treatment · Course 3</a:t>
            </a:r>
            <a:endParaRPr/>
          </a:p>
        </p:txBody>
      </p:sp>
      <p:pic>
        <p:nvPicPr>
          <p:cNvPr descr="c_for_benefit_chart.png" id="376" name="Google Shape;376;g3f6e8456e58_0_67"/>
          <p:cNvPicPr preferRelativeResize="0"/>
          <p:nvPr/>
        </p:nvPicPr>
        <p:blipFill rotWithShape="1">
          <a:blip r:embed="rId3">
            <a:alphaModFix/>
          </a:blip>
          <a:srcRect b="0" l="0" r="0" t="0"/>
          <a:stretch/>
        </p:blipFill>
        <p:spPr>
          <a:xfrm>
            <a:off x="6309528" y="1371600"/>
            <a:ext cx="5394961" cy="323697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13B"/>
        </a:solidFill>
      </p:bgPr>
    </p:bg>
    <p:spTree>
      <p:nvGrpSpPr>
        <p:cNvPr id="381" name="Shape 381"/>
        <p:cNvGrpSpPr/>
        <p:nvPr/>
      </p:nvGrpSpPr>
      <p:grpSpPr>
        <a:xfrm>
          <a:off x="0" y="0"/>
          <a:ext cx="0" cy="0"/>
          <a:chOff x="0" y="0"/>
          <a:chExt cx="0" cy="0"/>
        </a:xfrm>
      </p:grpSpPr>
      <p:sp>
        <p:nvSpPr>
          <p:cNvPr id="382" name="Google Shape;382;p17"/>
          <p:cNvSpPr/>
          <p:nvPr/>
        </p:nvSpPr>
        <p:spPr>
          <a:xfrm>
            <a:off x="822960" y="2377440"/>
            <a:ext cx="1371600" cy="1371600"/>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
          <p:cNvSpPr/>
          <p:nvPr/>
        </p:nvSpPr>
        <p:spPr>
          <a:xfrm>
            <a:off x="822960" y="2377440"/>
            <a:ext cx="13716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2</a:t>
            </a:r>
            <a:endParaRPr b="0" i="0" sz="5400" u="none" cap="none" strike="noStrike">
              <a:solidFill>
                <a:schemeClr val="dk1"/>
              </a:solidFill>
              <a:latin typeface="Calibri"/>
              <a:ea typeface="Calibri"/>
              <a:cs typeface="Calibri"/>
              <a:sym typeface="Calibri"/>
            </a:endParaRPr>
          </a:p>
        </p:txBody>
      </p:sp>
      <p:sp>
        <p:nvSpPr>
          <p:cNvPr id="384" name="Google Shape;384;p17"/>
          <p:cNvSpPr/>
          <p:nvPr/>
        </p:nvSpPr>
        <p:spPr>
          <a:xfrm>
            <a:off x="2560320" y="2468880"/>
            <a:ext cx="8686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C4CC"/>
              </a:buClr>
              <a:buSzPts val="1300"/>
              <a:buFont typeface="Calibri"/>
              <a:buNone/>
            </a:pPr>
            <a:r>
              <a:rPr b="1" i="0" lang="en-US" sz="1300" u="none" cap="none" strike="noStrike">
                <a:solidFill>
                  <a:srgbClr val="9FC4CC"/>
                </a:solidFill>
                <a:latin typeface="Calibri"/>
                <a:ea typeface="Calibri"/>
                <a:cs typeface="Calibri"/>
                <a:sym typeface="Calibri"/>
              </a:rPr>
              <a:t>MODULE 2</a:t>
            </a:r>
            <a:endParaRPr b="0" i="0" sz="1300" u="none" cap="none" strike="noStrike">
              <a:solidFill>
                <a:schemeClr val="dk1"/>
              </a:solidFill>
              <a:latin typeface="Calibri"/>
              <a:ea typeface="Calibri"/>
              <a:cs typeface="Calibri"/>
              <a:sym typeface="Calibri"/>
            </a:endParaRPr>
          </a:p>
        </p:txBody>
      </p:sp>
      <p:sp>
        <p:nvSpPr>
          <p:cNvPr id="385" name="Google Shape;385;p17"/>
          <p:cNvSpPr/>
          <p:nvPr/>
        </p:nvSpPr>
        <p:spPr>
          <a:xfrm>
            <a:off x="2560320" y="2788920"/>
            <a:ext cx="89611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Medical Question Answering</a:t>
            </a:r>
            <a:endParaRPr b="0" i="0" sz="3600" u="none" cap="none" strike="noStrike">
              <a:solidFill>
                <a:schemeClr val="dk1"/>
              </a:solidFill>
              <a:latin typeface="Calibri"/>
              <a:ea typeface="Calibri"/>
              <a:cs typeface="Calibri"/>
              <a:sym typeface="Calibri"/>
            </a:endParaRPr>
          </a:p>
        </p:txBody>
      </p:sp>
      <p:sp>
        <p:nvSpPr>
          <p:cNvPr id="386" name="Google Shape;386;p17"/>
          <p:cNvSpPr/>
          <p:nvPr/>
        </p:nvSpPr>
        <p:spPr>
          <a:xfrm>
            <a:off x="2560320" y="3566160"/>
            <a:ext cx="8961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A7B0"/>
              </a:buClr>
              <a:buSzPts val="1400"/>
              <a:buFont typeface="Calibri"/>
              <a:buNone/>
            </a:pPr>
            <a:r>
              <a:rPr b="0" i="0" lang="en-US" sz="1400" u="none" cap="none" strike="noStrike">
                <a:solidFill>
                  <a:srgbClr val="7FA7B0"/>
                </a:solidFill>
                <a:latin typeface="Calibri"/>
                <a:ea typeface="Calibri"/>
                <a:cs typeface="Calibri"/>
                <a:sym typeface="Calibri"/>
              </a:rPr>
              <a:t>10 videos · 32 min · Week 2   ·   Speaking order: DEV 2 → BIZ 2</a:t>
            </a:r>
            <a:endParaRPr b="0" i="0" sz="1400" u="none" cap="none" strike="noStrike">
              <a:solidFill>
                <a:schemeClr val="dk1"/>
              </a:solidFill>
              <a:latin typeface="Calibri"/>
              <a:ea typeface="Calibri"/>
              <a:cs typeface="Calibri"/>
              <a:sym typeface="Calibri"/>
            </a:endParaRPr>
          </a:p>
        </p:txBody>
      </p:sp>
      <p:sp>
        <p:nvSpPr>
          <p:cNvPr id="387" name="Google Shape;387;p17"/>
          <p:cNvSpPr/>
          <p:nvPr/>
        </p:nvSpPr>
        <p:spPr>
          <a:xfrm>
            <a:off x="2560320" y="3913632"/>
            <a:ext cx="8961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B58A"/>
              </a:buClr>
              <a:buSzPts val="1300"/>
              <a:buFont typeface="Calibri"/>
              <a:buNone/>
            </a:pPr>
            <a:r>
              <a:rPr b="1" i="0" lang="en-US" sz="1300" u="none" cap="none" strike="noStrike">
                <a:solidFill>
                  <a:srgbClr val="E8B58A"/>
                </a:solidFill>
                <a:latin typeface="Calibri"/>
                <a:ea typeface="Calibri"/>
                <a:cs typeface="Calibri"/>
                <a:sym typeface="Calibri"/>
              </a:rPr>
              <a:t>This divider is read by DEV 2</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f9a3080476_0_138"/>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2</a:t>
            </a:r>
            <a:endParaRPr b="0" i="0" sz="1100" u="none" cap="none" strike="noStrike">
              <a:solidFill>
                <a:schemeClr val="dk1"/>
              </a:solidFill>
              <a:latin typeface="Calibri"/>
              <a:ea typeface="Calibri"/>
              <a:cs typeface="Calibri"/>
              <a:sym typeface="Calibri"/>
            </a:endParaRPr>
          </a:p>
        </p:txBody>
      </p:sp>
      <p:sp>
        <p:nvSpPr>
          <p:cNvPr id="394" name="Google Shape;394;g3f9a3080476_0_138"/>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Medical Question Answering with BERT</a:t>
            </a:r>
            <a:endParaRPr b="0" i="0" sz="3000" u="none" cap="none" strike="noStrike">
              <a:solidFill>
                <a:schemeClr val="dk1"/>
              </a:solidFill>
              <a:latin typeface="Calibri"/>
              <a:ea typeface="Calibri"/>
              <a:cs typeface="Calibri"/>
              <a:sym typeface="Calibri"/>
            </a:endParaRPr>
          </a:p>
        </p:txBody>
      </p:sp>
      <p:sp>
        <p:nvSpPr>
          <p:cNvPr id="395" name="Google Shape;395;g3f9a3080476_0_138"/>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model reads a passage and returns a short part of it. It writes no new words</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Course example: "What is Forxiga used for?" gives back "reduced blood glucose levels"</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One word can have two meanings, so a fixed vector per word is not enough</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BERT builds each vector from the whole sentence; BioBERT does the same on medical papers</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medical_question_answering_with_bert.png" id="396" name="Google Shape;396;g3f9a3080476_0_138"/>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397" name="Google Shape;397;g3f9a3080476_0_138"/>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398" name="Google Shape;398;g3f9a3080476_0_138"/>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f9a3080476_0_148"/>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2</a:t>
            </a:r>
            <a:endParaRPr b="0" i="0" sz="1100" u="none" cap="none" strike="noStrike">
              <a:solidFill>
                <a:schemeClr val="dk1"/>
              </a:solidFill>
              <a:latin typeface="Calibri"/>
              <a:ea typeface="Calibri"/>
              <a:cs typeface="Calibri"/>
              <a:sym typeface="Calibri"/>
            </a:endParaRPr>
          </a:p>
        </p:txBody>
      </p:sp>
      <p:sp>
        <p:nvSpPr>
          <p:cNvPr id="405" name="Google Shape;405;g3f9a3080476_0_148"/>
          <p:cNvSpPr/>
          <p:nvPr/>
        </p:nvSpPr>
        <p:spPr>
          <a:xfrm>
            <a:off x="502920" y="712641"/>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Define the Answer in a Text</a:t>
            </a:r>
            <a:endParaRPr b="0" i="0" sz="3000" u="none" cap="none" strike="noStrike">
              <a:solidFill>
                <a:schemeClr val="dk1"/>
              </a:solidFill>
              <a:latin typeface="Calibri"/>
              <a:ea typeface="Calibri"/>
              <a:cs typeface="Calibri"/>
              <a:sym typeface="Calibri"/>
            </a:endParaRPr>
          </a:p>
        </p:txBody>
      </p:sp>
      <p:sp>
        <p:nvSpPr>
          <p:cNvPr id="406" name="Google Shape;406;g3f9a3080476_0_148"/>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answer is marked by its first word and its last word</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model learns two vectors, S for the start and E for the end</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Each word gets a start score and an end score, then every pair is tried</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end cannot come before the start, so only half the table is used</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define_the_answer_in_a_text.png" id="407" name="Google Shape;407;g3f9a3080476_0_148"/>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408" name="Google Shape;408;g3f9a3080476_0_148"/>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409" name="Google Shape;409;g3f9a3080476_0_148"/>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f9a3080476_0_188"/>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2</a:t>
            </a:r>
            <a:endParaRPr b="0" i="0" sz="1100" u="none" cap="none" strike="noStrike">
              <a:solidFill>
                <a:schemeClr val="dk1"/>
              </a:solidFill>
              <a:latin typeface="Calibri"/>
              <a:ea typeface="Calibri"/>
              <a:cs typeface="Calibri"/>
              <a:sym typeface="Calibri"/>
            </a:endParaRPr>
          </a:p>
        </p:txBody>
      </p:sp>
      <p:sp>
        <p:nvSpPr>
          <p:cNvPr id="416" name="Google Shape;416;g3f9a3080476_0_188"/>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Lab: Cleaning the Report Text</a:t>
            </a:r>
            <a:endParaRPr b="0" i="0" sz="3000" u="none" cap="none" strike="noStrike">
              <a:solidFill>
                <a:schemeClr val="dk1"/>
              </a:solidFill>
              <a:latin typeface="Calibri"/>
              <a:ea typeface="Calibri"/>
              <a:cs typeface="Calibri"/>
              <a:sym typeface="Calibri"/>
            </a:endParaRPr>
          </a:p>
        </p:txBody>
      </p:sp>
      <p:sp>
        <p:nvSpPr>
          <p:cNvPr id="417" name="Google Shape;417;g3f9a3080476_0_188"/>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Real reports are messy: missing spaces, double spaces, "and/or", double full stops</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A search for "pneumonia." would miss the same word written "pneumonia.."</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lab replaces "and/or", splits "a/b", collapses spaces and fixes punctuation</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All 21 code cells ran with no error, and this lab needs no data file</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lab_cleaning_the_report_text.png" id="418" name="Google Shape;418;g3f9a3080476_0_188"/>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419" name="Google Shape;419;g3f9a3080476_0_188"/>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420" name="Google Shape;420;g3f9a3080476_0_188"/>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f9a3080476_0_208"/>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2</a:t>
            </a:r>
            <a:endParaRPr b="0" i="0" sz="1100" u="none" cap="none" strike="noStrike">
              <a:solidFill>
                <a:schemeClr val="dk1"/>
              </a:solidFill>
              <a:latin typeface="Calibri"/>
              <a:ea typeface="Calibri"/>
              <a:cs typeface="Calibri"/>
              <a:sym typeface="Calibri"/>
            </a:endParaRPr>
          </a:p>
        </p:txBody>
      </p:sp>
      <p:sp>
        <p:nvSpPr>
          <p:cNvPr id="427" name="Google Shape;427;g3f9a3080476_0_208"/>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Lab: Preparing Input for BERT</a:t>
            </a:r>
            <a:endParaRPr b="0" i="0" sz="3000" u="none" cap="none" strike="noStrike">
              <a:solidFill>
                <a:schemeClr val="dk1"/>
              </a:solidFill>
              <a:latin typeface="Calibri"/>
              <a:ea typeface="Calibri"/>
              <a:cs typeface="Calibri"/>
              <a:sym typeface="Calibri"/>
            </a:endParaRPr>
          </a:p>
        </p:txBody>
      </p:sp>
      <p:sp>
        <p:nvSpPr>
          <p:cNvPr id="428" name="Google Shape;428;g3f9a3080476_0_208"/>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Words must become numbers before BERT can read them</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A sentence becomes a fixed row of 60 numbers, starting with the special token 101</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Zeros at the end are padding, and a Masking layer tells the model to skip them</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common bug is shape (60,) against shape (1, 60) — a flat list against a table</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lab_preparing_input_for_bert.png" id="429" name="Google Shape;429;g3f9a3080476_0_208"/>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430" name="Google Shape;430;g3f9a3080476_0_208"/>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431" name="Google Shape;431;g3f9a3080476_0_208"/>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f9a3080476_0_158"/>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2</a:t>
            </a:r>
            <a:endParaRPr b="0" i="0" sz="1100" u="none" cap="none" strike="noStrike">
              <a:solidFill>
                <a:schemeClr val="dk1"/>
              </a:solidFill>
              <a:latin typeface="Calibri"/>
              <a:ea typeface="Calibri"/>
              <a:cs typeface="Calibri"/>
              <a:sym typeface="Calibri"/>
            </a:endParaRPr>
          </a:p>
        </p:txBody>
      </p:sp>
      <p:sp>
        <p:nvSpPr>
          <p:cNvPr id="438" name="Google Shape;438;g3f9a3080476_0_158"/>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Automatic Label Extraction: Finding Mentions</a:t>
            </a:r>
            <a:endParaRPr b="0" i="0" sz="3000" u="none" cap="none" strike="noStrike">
              <a:solidFill>
                <a:schemeClr val="dk1"/>
              </a:solidFill>
              <a:latin typeface="Calibri"/>
              <a:ea typeface="Calibri"/>
              <a:cs typeface="Calibri"/>
              <a:sym typeface="Calibri"/>
            </a:endParaRPr>
          </a:p>
        </p:txBody>
      </p:sp>
      <p:sp>
        <p:nvSpPr>
          <p:cNvPr id="439" name="Google Shape;439;g3f9a3080476_0_158"/>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Course 1 needed labels for hundreds of thousands of X-rays, and no doctor can label them all</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Every X-ray already has a written report, so we read the report by machine</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Step 1 asks one question: is the disease named at all?</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This needs words that mean the same, and words that are a type of the disease</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automatic_label_extraction_finding_mentions.png" id="440" name="Google Shape;440;g3f9a3080476_0_158"/>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441" name="Google Shape;441;g3f9a3080476_0_158"/>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442" name="Google Shape;442;g3f9a3080476_0_158"/>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f9a3080476_0_168"/>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2</a:t>
            </a:r>
            <a:endParaRPr b="0" i="0" sz="1100" u="none" cap="none" strike="noStrike">
              <a:solidFill>
                <a:schemeClr val="dk1"/>
              </a:solidFill>
              <a:latin typeface="Calibri"/>
              <a:ea typeface="Calibri"/>
              <a:cs typeface="Calibri"/>
              <a:sym typeface="Calibri"/>
            </a:endParaRPr>
          </a:p>
        </p:txBody>
      </p:sp>
      <p:sp>
        <p:nvSpPr>
          <p:cNvPr id="449" name="Google Shape;449;g3f9a3080476_0_168"/>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Presence or Absence: Negation Detection</a:t>
            </a:r>
            <a:endParaRPr b="0" i="0" sz="3000" u="none" cap="none" strike="noStrike">
              <a:solidFill>
                <a:schemeClr val="dk1"/>
              </a:solidFill>
              <a:latin typeface="Calibri"/>
              <a:ea typeface="Calibri"/>
              <a:cs typeface="Calibri"/>
              <a:sym typeface="Calibri"/>
            </a:endParaRPr>
          </a:p>
        </p:txBody>
      </p:sp>
      <p:sp>
        <p:nvSpPr>
          <p:cNvPr id="450" name="Google Shape;450;g3f9a3080476_0_168"/>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Step 2 asks whether the named disease is really there</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A name in the text is not the same as a diagnosis</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Each new way of writing "no" needs one more rule, so the rule list grows slowly</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Three options: simple word rules, grammar rules, or supervised learning</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presence_or_absence_negation_detection.png" id="451" name="Google Shape;451;g3f9a3080476_0_168"/>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452" name="Google Shape;452;g3f9a3080476_0_168"/>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453" name="Google Shape;453;g3f9a3080476_0_168"/>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3f9a3080476_0_198"/>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2</a:t>
            </a:r>
            <a:endParaRPr b="0" i="0" sz="1100" u="none" cap="none" strike="noStrike">
              <a:solidFill>
                <a:schemeClr val="dk1"/>
              </a:solidFill>
              <a:latin typeface="Calibri"/>
              <a:ea typeface="Calibri"/>
              <a:cs typeface="Calibri"/>
              <a:sym typeface="Calibri"/>
            </a:endParaRPr>
          </a:p>
        </p:txBody>
      </p:sp>
      <p:sp>
        <p:nvSpPr>
          <p:cNvPr id="460" name="Google Shape;460;g3f9a3080476_0_198"/>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Lab: Negation Detection that Runs</a:t>
            </a:r>
            <a:endParaRPr b="0" i="0" sz="3000" u="none" cap="none" strike="noStrike">
              <a:solidFill>
                <a:schemeClr val="dk1"/>
              </a:solidFill>
              <a:latin typeface="Calibri"/>
              <a:ea typeface="Calibri"/>
              <a:cs typeface="Calibri"/>
              <a:sym typeface="Calibri"/>
            </a:endParaRPr>
          </a:p>
        </p:txBody>
      </p:sp>
      <p:sp>
        <p:nvSpPr>
          <p:cNvPr id="461" name="Google Shape;461;g3f9a3080476_0_198"/>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course lab fails today: NegBio is not on PyPI, only on GitHub</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We replaced it with medspacy, which installs normally and uses the same idea</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On 1000 reports the default rules gave F1 0.787</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Adding three rules, including "negative for", raised F1 to 0.921</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lab_negation_detection_that_runs.png" id="462" name="Google Shape;462;g3f9a3080476_0_198"/>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463" name="Google Shape;463;g3f9a3080476_0_198"/>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464" name="Google Shape;464;g3f9a3080476_0_198"/>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f9a3080476_0_178"/>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2</a:t>
            </a:r>
            <a:endParaRPr b="0" i="0" sz="1100" u="none" cap="none" strike="noStrike">
              <a:solidFill>
                <a:schemeClr val="dk1"/>
              </a:solidFill>
              <a:latin typeface="Calibri"/>
              <a:ea typeface="Calibri"/>
              <a:cs typeface="Calibri"/>
              <a:sym typeface="Calibri"/>
            </a:endParaRPr>
          </a:p>
        </p:txBody>
      </p:sp>
      <p:sp>
        <p:nvSpPr>
          <p:cNvPr id="471" name="Google Shape;471;g3f9a3080476_0_178"/>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Evaluating Label Extraction</a:t>
            </a:r>
            <a:endParaRPr b="0" i="0" sz="3000" u="none" cap="none" strike="noStrike">
              <a:solidFill>
                <a:schemeClr val="dk1"/>
              </a:solidFill>
              <a:latin typeface="Calibri"/>
              <a:ea typeface="Calibri"/>
              <a:cs typeface="Calibri"/>
              <a:sym typeface="Calibri"/>
            </a:endParaRPr>
          </a:p>
        </p:txBody>
      </p:sp>
      <p:sp>
        <p:nvSpPr>
          <p:cNvPr id="472" name="Google Shape;472;g3f9a3080476_0_178"/>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Precision asks: when the model says yes, how often is it right?</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Recall asks: of all the real cases, how many did it find?</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F1 joins the two into one number; the course example gives 0.5 for all three</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Macro averages the per-disease scores; micro adds up the counts first</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evaluating_label_extraction.png" id="473" name="Google Shape;473;g3f9a3080476_0_178"/>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474" name="Google Shape;474;g3f9a3080476_0_178"/>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475" name="Google Shape;475;g3f9a3080476_0_178"/>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13B"/>
        </a:solidFill>
      </p:bgPr>
    </p:bg>
    <p:spTree>
      <p:nvGrpSpPr>
        <p:cNvPr id="480" name="Shape 480"/>
        <p:cNvGrpSpPr/>
        <p:nvPr/>
      </p:nvGrpSpPr>
      <p:grpSpPr>
        <a:xfrm>
          <a:off x="0" y="0"/>
          <a:ext cx="0" cy="0"/>
          <a:chOff x="0" y="0"/>
          <a:chExt cx="0" cy="0"/>
        </a:xfrm>
      </p:grpSpPr>
      <p:sp>
        <p:nvSpPr>
          <p:cNvPr id="481" name="Google Shape;481;p28"/>
          <p:cNvSpPr/>
          <p:nvPr/>
        </p:nvSpPr>
        <p:spPr>
          <a:xfrm>
            <a:off x="822960" y="2377440"/>
            <a:ext cx="1371600" cy="1371600"/>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8"/>
          <p:cNvSpPr/>
          <p:nvPr/>
        </p:nvSpPr>
        <p:spPr>
          <a:xfrm>
            <a:off x="822960" y="2377440"/>
            <a:ext cx="13716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3</a:t>
            </a:r>
            <a:endParaRPr b="0" i="0" sz="5400" u="none" cap="none" strike="noStrike">
              <a:solidFill>
                <a:schemeClr val="dk1"/>
              </a:solidFill>
              <a:latin typeface="Calibri"/>
              <a:ea typeface="Calibri"/>
              <a:cs typeface="Calibri"/>
              <a:sym typeface="Calibri"/>
            </a:endParaRPr>
          </a:p>
        </p:txBody>
      </p:sp>
      <p:sp>
        <p:nvSpPr>
          <p:cNvPr id="483" name="Google Shape;483;p28"/>
          <p:cNvSpPr/>
          <p:nvPr/>
        </p:nvSpPr>
        <p:spPr>
          <a:xfrm>
            <a:off x="2560320" y="2468880"/>
            <a:ext cx="8686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C4CC"/>
              </a:buClr>
              <a:buSzPts val="1300"/>
              <a:buFont typeface="Calibri"/>
              <a:buNone/>
            </a:pPr>
            <a:r>
              <a:rPr b="1" i="0" lang="en-US" sz="1300" u="none" cap="none" strike="noStrike">
                <a:solidFill>
                  <a:srgbClr val="9FC4CC"/>
                </a:solidFill>
                <a:latin typeface="Calibri"/>
                <a:ea typeface="Calibri"/>
                <a:cs typeface="Calibri"/>
                <a:sym typeface="Calibri"/>
              </a:rPr>
              <a:t>MODULE 3</a:t>
            </a:r>
            <a:endParaRPr b="0" i="0" sz="1300" u="none" cap="none" strike="noStrike">
              <a:solidFill>
                <a:schemeClr val="dk1"/>
              </a:solidFill>
              <a:latin typeface="Calibri"/>
              <a:ea typeface="Calibri"/>
              <a:cs typeface="Calibri"/>
              <a:sym typeface="Calibri"/>
            </a:endParaRPr>
          </a:p>
        </p:txBody>
      </p:sp>
      <p:sp>
        <p:nvSpPr>
          <p:cNvPr id="484" name="Google Shape;484;p28"/>
          <p:cNvSpPr/>
          <p:nvPr/>
        </p:nvSpPr>
        <p:spPr>
          <a:xfrm>
            <a:off x="2560320" y="2788920"/>
            <a:ext cx="89611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ML Interpretation</a:t>
            </a:r>
            <a:endParaRPr b="0" i="0" sz="3600" u="none" cap="none" strike="noStrike">
              <a:solidFill>
                <a:schemeClr val="dk1"/>
              </a:solidFill>
              <a:latin typeface="Calibri"/>
              <a:ea typeface="Calibri"/>
              <a:cs typeface="Calibri"/>
              <a:sym typeface="Calibri"/>
            </a:endParaRPr>
          </a:p>
        </p:txBody>
      </p:sp>
      <p:sp>
        <p:nvSpPr>
          <p:cNvPr id="485" name="Google Shape;485;p28"/>
          <p:cNvSpPr/>
          <p:nvPr/>
        </p:nvSpPr>
        <p:spPr>
          <a:xfrm>
            <a:off x="2560320" y="3566160"/>
            <a:ext cx="8961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A7B0"/>
              </a:buClr>
              <a:buSzPts val="1400"/>
              <a:buFont typeface="Calibri"/>
              <a:buNone/>
            </a:pPr>
            <a:r>
              <a:rPr b="0" i="0" lang="en-US" sz="1400" u="none" cap="none" strike="noStrike">
                <a:solidFill>
                  <a:srgbClr val="7FA7B0"/>
                </a:solidFill>
                <a:latin typeface="Calibri"/>
                <a:ea typeface="Calibri"/>
                <a:cs typeface="Calibri"/>
                <a:sym typeface="Calibri"/>
              </a:rPr>
              <a:t>9 videos · 29 min · Week 3   ·   Speaking order: DEV 2 → BIZ 2 → DEV 1 → DEV 2</a:t>
            </a:r>
            <a:endParaRPr b="0" i="0" sz="1400" u="none" cap="none" strike="noStrike">
              <a:solidFill>
                <a:schemeClr val="dk1"/>
              </a:solidFill>
              <a:latin typeface="Calibri"/>
              <a:ea typeface="Calibri"/>
              <a:cs typeface="Calibri"/>
              <a:sym typeface="Calibri"/>
            </a:endParaRPr>
          </a:p>
        </p:txBody>
      </p:sp>
      <p:sp>
        <p:nvSpPr>
          <p:cNvPr id="486" name="Google Shape;486;p28"/>
          <p:cNvSpPr/>
          <p:nvPr/>
        </p:nvSpPr>
        <p:spPr>
          <a:xfrm>
            <a:off x="2560320" y="3913632"/>
            <a:ext cx="8961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B58A"/>
              </a:buClr>
              <a:buSzPts val="1300"/>
              <a:buFont typeface="Calibri"/>
              <a:buNone/>
            </a:pPr>
            <a:r>
              <a:rPr b="1" i="0" lang="en-US" sz="1300" u="none" cap="none" strike="noStrike">
                <a:solidFill>
                  <a:srgbClr val="E8B58A"/>
                </a:solidFill>
                <a:latin typeface="Calibri"/>
                <a:ea typeface="Calibri"/>
                <a:cs typeface="Calibri"/>
                <a:sym typeface="Calibri"/>
              </a:rPr>
              <a:t>This divider is read by DEV 2</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f9a3080476_0_220"/>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3</a:t>
            </a:r>
            <a:endParaRPr b="0" i="0" sz="1100" u="none" cap="none" strike="noStrike">
              <a:solidFill>
                <a:schemeClr val="dk1"/>
              </a:solidFill>
              <a:latin typeface="Calibri"/>
              <a:ea typeface="Calibri"/>
              <a:cs typeface="Calibri"/>
              <a:sym typeface="Calibri"/>
            </a:endParaRPr>
          </a:p>
        </p:txBody>
      </p:sp>
      <p:sp>
        <p:nvSpPr>
          <p:cNvPr id="493" name="Google Shape;493;g3f9a3080476_0_220"/>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Drop Column and Permutation Methods</a:t>
            </a:r>
            <a:endParaRPr b="0" i="0" sz="3000" u="none" cap="none" strike="noStrike">
              <a:solidFill>
                <a:schemeClr val="dk1"/>
              </a:solidFill>
              <a:latin typeface="Calibri"/>
              <a:ea typeface="Calibri"/>
              <a:cs typeface="Calibri"/>
              <a:sym typeface="Calibri"/>
            </a:endParaRPr>
          </a:p>
        </p:txBody>
      </p:sp>
      <p:sp>
        <p:nvSpPr>
          <p:cNvPr id="494" name="Google Shape;494;g3f9a3080476_0_220"/>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Drop column: remove a feature, retrain, and measure the fall in performance</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Permutation: shuffle the column in the test data instead, so no retraining is needed</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Course example: shuffling age costs 0.20 of c-index, blood pressure only 0.07</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LAB — baseline c-index 0.7759, mean Age importance 0.2228 across three shuffles</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drop_column_and_permutation_methods.png" id="495" name="Google Shape;495;g3f9a3080476_0_220"/>
          <p:cNvPicPr preferRelativeResize="0"/>
          <p:nvPr/>
        </p:nvPicPr>
        <p:blipFill rotWithShape="1">
          <a:blip r:embed="rId3">
            <a:alphaModFix/>
          </a:blip>
          <a:srcRect b="0" l="0" r="0" t="0"/>
          <a:stretch/>
        </p:blipFill>
        <p:spPr>
          <a:xfrm>
            <a:off x="502920" y="2755821"/>
            <a:ext cx="11155680" cy="3535251"/>
          </a:xfrm>
          <a:prstGeom prst="rect">
            <a:avLst/>
          </a:prstGeom>
          <a:noFill/>
          <a:ln>
            <a:noFill/>
          </a:ln>
        </p:spPr>
      </p:pic>
      <p:sp>
        <p:nvSpPr>
          <p:cNvPr id="496" name="Google Shape;496;g3f9a3080476_0_220"/>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497" name="Google Shape;497;g3f9a3080476_0_220"/>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3f9a3080476_0_230"/>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3</a:t>
            </a:r>
            <a:endParaRPr b="0" i="0" sz="1100" u="none" cap="none" strike="noStrike">
              <a:solidFill>
                <a:schemeClr val="dk1"/>
              </a:solidFill>
              <a:latin typeface="Calibri"/>
              <a:ea typeface="Calibri"/>
              <a:cs typeface="Calibri"/>
              <a:sym typeface="Calibri"/>
            </a:endParaRPr>
          </a:p>
        </p:txBody>
      </p:sp>
      <p:sp>
        <p:nvSpPr>
          <p:cNvPr id="504" name="Google Shape;504;g3f9a3080476_0_230"/>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Individual Feature Importance</a:t>
            </a:r>
            <a:endParaRPr b="0" i="0" sz="3000" u="none" cap="none" strike="noStrike">
              <a:solidFill>
                <a:schemeClr val="dk1"/>
              </a:solidFill>
              <a:latin typeface="Calibri"/>
              <a:ea typeface="Calibri"/>
              <a:cs typeface="Calibri"/>
              <a:sym typeface="Calibri"/>
            </a:endParaRPr>
          </a:p>
        </p:txBody>
      </p:sp>
      <p:sp>
        <p:nvSpPr>
          <p:cNvPr id="505" name="Google Shape;505;g3f9a3080476_0_230"/>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Group-level importance asks which feature matters across all patients</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Individual importance asks why the model said THIS about THIS patient</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Course example: the model predicts 0.93; removing blood pressure moves it by 0.53</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simple method fails when two features rise and fall together</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individual_feature_importance.png" id="506" name="Google Shape;506;g3f9a3080476_0_230"/>
          <p:cNvPicPr preferRelativeResize="0"/>
          <p:nvPr/>
        </p:nvPicPr>
        <p:blipFill rotWithShape="1">
          <a:blip r:embed="rId3">
            <a:alphaModFix/>
          </a:blip>
          <a:srcRect b="0" l="0" r="0" t="0"/>
          <a:stretch/>
        </p:blipFill>
        <p:spPr>
          <a:xfrm>
            <a:off x="502920" y="2542032"/>
            <a:ext cx="10595114" cy="3749040"/>
          </a:xfrm>
          <a:prstGeom prst="rect">
            <a:avLst/>
          </a:prstGeom>
          <a:noFill/>
          <a:ln>
            <a:noFill/>
          </a:ln>
        </p:spPr>
      </p:pic>
      <p:sp>
        <p:nvSpPr>
          <p:cNvPr id="507" name="Google Shape;507;g3f9a3080476_0_230"/>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508" name="Google Shape;508;g3f9a3080476_0_230"/>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2"/>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3</a:t>
            </a:r>
            <a:endParaRPr b="0" i="0" sz="1100" u="none" cap="none" strike="noStrike">
              <a:solidFill>
                <a:schemeClr val="dk1"/>
              </a:solidFill>
              <a:latin typeface="Calibri"/>
              <a:ea typeface="Calibri"/>
              <a:cs typeface="Calibri"/>
              <a:sym typeface="Calibri"/>
            </a:endParaRPr>
          </a:p>
        </p:txBody>
      </p:sp>
      <p:sp>
        <p:nvSpPr>
          <p:cNvPr id="515" name="Google Shape;515;p32"/>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Shapley Values</a:t>
            </a:r>
            <a:endParaRPr b="0" i="0" sz="3000" u="none" cap="none" strike="noStrike">
              <a:solidFill>
                <a:schemeClr val="dk1"/>
              </a:solidFill>
              <a:latin typeface="Calibri"/>
              <a:ea typeface="Calibri"/>
              <a:cs typeface="Calibri"/>
              <a:sym typeface="Calibri"/>
            </a:endParaRPr>
          </a:p>
        </p:txBody>
      </p:sp>
      <p:sp>
        <p:nvSpPr>
          <p:cNvPr id="516" name="Google Shape;516;p32"/>
          <p:cNvSpPr/>
          <p:nvPr/>
        </p:nvSpPr>
        <p:spPr>
          <a:xfrm>
            <a:off x="502920" y="1691640"/>
            <a:ext cx="749808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Idea: measure a feature’s contribution across every subset of features, not just the full set</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With 3 features there are 8 subsets, so 8 models; the empty set is defined as the prevalence</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Imagine building the feature set one feature at a time — 3 features give 3! = 6 orderings</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For each ordering, take the contribution of the feature against those that came before it</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The Shapley value I is the average of those 6 marginal contributions; for SBP it was 0.38</a:t>
            </a:r>
            <a:endParaRPr b="0" i="0" sz="1550" u="none" cap="none" strike="noStrike">
              <a:solidFill>
                <a:schemeClr val="dk1"/>
              </a:solidFill>
              <a:latin typeface="Calibri"/>
              <a:ea typeface="Calibri"/>
              <a:cs typeface="Calibri"/>
              <a:sym typeface="Calibri"/>
            </a:endParaRPr>
          </a:p>
        </p:txBody>
      </p:sp>
      <p:sp>
        <p:nvSpPr>
          <p:cNvPr id="517" name="Google Shape;517;p32"/>
          <p:cNvSpPr/>
          <p:nvPr/>
        </p:nvSpPr>
        <p:spPr>
          <a:xfrm>
            <a:off x="502920" y="4114800"/>
            <a:ext cx="7498080" cy="1691640"/>
          </a:xfrm>
          <a:prstGeom prst="roundRect">
            <a:avLst>
              <a:gd fmla="val 3243" name="adj"/>
            </a:avLst>
          </a:prstGeom>
          <a:solidFill>
            <a:srgbClr val="FAFCFC"/>
          </a:solidFill>
          <a:ln cap="flat" cmpd="sng" w="12700">
            <a:solidFill>
              <a:srgbClr val="CCD6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2"/>
          <p:cNvSpPr/>
          <p:nvPr/>
        </p:nvSpPr>
        <p:spPr>
          <a:xfrm>
            <a:off x="777240" y="4754880"/>
            <a:ext cx="6949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7F"/>
              </a:buClr>
              <a:buSzPts val="1200"/>
              <a:buFont typeface="Calibri"/>
              <a:buNone/>
            </a:pPr>
            <a:r>
              <a:rPr b="0" i="1" lang="en-US" sz="1200" u="none" cap="none" strike="noStrike">
                <a:solidFill>
                  <a:srgbClr val="6B7A7F"/>
                </a:solidFill>
                <a:latin typeface="Calibri"/>
                <a:ea typeface="Calibri"/>
                <a:cs typeface="Calibri"/>
                <a:sym typeface="Calibri"/>
              </a:rPr>
              <a:t>Place a diagram, table or image here</a:t>
            </a:r>
            <a:endParaRPr b="0" i="0" sz="1200" u="none" cap="none" strike="noStrike">
              <a:solidFill>
                <a:schemeClr val="dk1"/>
              </a:solidFill>
              <a:latin typeface="Calibri"/>
              <a:ea typeface="Calibri"/>
              <a:cs typeface="Calibri"/>
              <a:sym typeface="Calibri"/>
            </a:endParaRPr>
          </a:p>
        </p:txBody>
      </p:sp>
      <p:sp>
        <p:nvSpPr>
          <p:cNvPr id="519" name="Google Shape;519;p32"/>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2"/>
          <p:cNvSpPr/>
          <p:nvPr/>
        </p:nvSpPr>
        <p:spPr>
          <a:xfrm>
            <a:off x="8613648" y="914400"/>
            <a:ext cx="502920" cy="502920"/>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2"/>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D1</a:t>
            </a:r>
            <a:endParaRPr b="0" i="0" sz="1400" u="none" cap="none" strike="noStrike">
              <a:solidFill>
                <a:schemeClr val="dk1"/>
              </a:solidFill>
              <a:latin typeface="Calibri"/>
              <a:ea typeface="Calibri"/>
              <a:cs typeface="Calibri"/>
              <a:sym typeface="Calibri"/>
            </a:endParaRPr>
          </a:p>
        </p:txBody>
      </p:sp>
      <p:sp>
        <p:nvSpPr>
          <p:cNvPr id="522" name="Google Shape;522;p32"/>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DEV 1</a:t>
            </a:r>
            <a:endParaRPr b="0" i="0" sz="1500" u="none" cap="none" strike="noStrike">
              <a:solidFill>
                <a:schemeClr val="dk1"/>
              </a:solidFill>
              <a:latin typeface="Calibri"/>
              <a:ea typeface="Calibri"/>
              <a:cs typeface="Calibri"/>
              <a:sym typeface="Calibri"/>
            </a:endParaRPr>
          </a:p>
        </p:txBody>
      </p:sp>
      <p:sp>
        <p:nvSpPr>
          <p:cNvPr id="523" name="Google Shape;523;p32"/>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2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1F6F7A"/>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slide 31</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Shapley Values · Combining Importances</a:t>
            </a:r>
            <a:endParaRPr b="0" i="0" sz="1050" u="none" cap="none" strike="noStrike">
              <a:solidFill>
                <a:schemeClr val="dk1"/>
              </a:solidFill>
              <a:latin typeface="Calibri"/>
              <a:ea typeface="Calibri"/>
              <a:cs typeface="Calibri"/>
              <a:sym typeface="Calibri"/>
            </a:endParaRPr>
          </a:p>
        </p:txBody>
      </p:sp>
      <p:sp>
        <p:nvSpPr>
          <p:cNvPr id="524" name="Google Shape;524;p32"/>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525" name="Google Shape;525;p32"/>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526" name="Google Shape;526;p32"/>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3"/>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3</a:t>
            </a:r>
            <a:endParaRPr b="0" i="0" sz="1100" u="none" cap="none" strike="noStrike">
              <a:solidFill>
                <a:schemeClr val="dk1"/>
              </a:solidFill>
              <a:latin typeface="Calibri"/>
              <a:ea typeface="Calibri"/>
              <a:cs typeface="Calibri"/>
              <a:sym typeface="Calibri"/>
            </a:endParaRPr>
          </a:p>
        </p:txBody>
      </p:sp>
      <p:sp>
        <p:nvSpPr>
          <p:cNvPr id="533" name="Google Shape;533;p33"/>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Shapley Values for all Patients</a:t>
            </a:r>
            <a:endParaRPr b="0" i="0" sz="3000" u="none" cap="none" strike="noStrike">
              <a:solidFill>
                <a:schemeClr val="dk1"/>
              </a:solidFill>
              <a:latin typeface="Calibri"/>
              <a:ea typeface="Calibri"/>
              <a:cs typeface="Calibri"/>
              <a:sym typeface="Calibri"/>
            </a:endParaRPr>
          </a:p>
        </p:txBody>
      </p:sp>
      <p:sp>
        <p:nvSpPr>
          <p:cNvPr id="534" name="Google Shape;534;p33"/>
          <p:cNvSpPr/>
          <p:nvPr/>
        </p:nvSpPr>
        <p:spPr>
          <a:xfrm>
            <a:off x="502920" y="1691640"/>
            <a:ext cx="749808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Additivity: the Shapley values sum to the full prediction minus the population base risk</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So they explain the extra risk this patient carries above the population average</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Force plot: base value and output value, each feature drawn as a segment between them</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Red pushes the prediction up, blue pushes it down</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Course example: output 0.26 from base 0.00, with SBP +0.3, DBP +0.01 and age −0.05</a:t>
            </a:r>
            <a:endParaRPr b="0" i="0" sz="1550" u="none" cap="none" strike="noStrike">
              <a:solidFill>
                <a:schemeClr val="dk1"/>
              </a:solidFill>
              <a:latin typeface="Calibri"/>
              <a:ea typeface="Calibri"/>
              <a:cs typeface="Calibri"/>
              <a:sym typeface="Calibri"/>
            </a:endParaRPr>
          </a:p>
        </p:txBody>
      </p:sp>
      <p:sp>
        <p:nvSpPr>
          <p:cNvPr id="535" name="Google Shape;535;p33"/>
          <p:cNvSpPr/>
          <p:nvPr/>
        </p:nvSpPr>
        <p:spPr>
          <a:xfrm>
            <a:off x="502920" y="4114800"/>
            <a:ext cx="7498080" cy="1691640"/>
          </a:xfrm>
          <a:prstGeom prst="roundRect">
            <a:avLst>
              <a:gd fmla="val 3243" name="adj"/>
            </a:avLst>
          </a:prstGeom>
          <a:solidFill>
            <a:srgbClr val="FAFCFC"/>
          </a:solidFill>
          <a:ln cap="flat" cmpd="sng" w="12700">
            <a:solidFill>
              <a:srgbClr val="CCD6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3"/>
          <p:cNvSpPr/>
          <p:nvPr/>
        </p:nvSpPr>
        <p:spPr>
          <a:xfrm>
            <a:off x="777240" y="4754880"/>
            <a:ext cx="6949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7F"/>
              </a:buClr>
              <a:buSzPts val="1200"/>
              <a:buFont typeface="Calibri"/>
              <a:buNone/>
            </a:pPr>
            <a:r>
              <a:rPr b="0" i="1" lang="en-US" sz="1200" u="none" cap="none" strike="noStrike">
                <a:solidFill>
                  <a:srgbClr val="6B7A7F"/>
                </a:solidFill>
                <a:latin typeface="Calibri"/>
                <a:ea typeface="Calibri"/>
                <a:cs typeface="Calibri"/>
                <a:sym typeface="Calibri"/>
              </a:rPr>
              <a:t>Place image here — SHAP force plot or summary plot</a:t>
            </a:r>
            <a:endParaRPr b="0" i="0" sz="1200" u="none" cap="none" strike="noStrike">
              <a:solidFill>
                <a:schemeClr val="dk1"/>
              </a:solidFill>
              <a:latin typeface="Calibri"/>
              <a:ea typeface="Calibri"/>
              <a:cs typeface="Calibri"/>
              <a:sym typeface="Calibri"/>
            </a:endParaRPr>
          </a:p>
        </p:txBody>
      </p:sp>
      <p:sp>
        <p:nvSpPr>
          <p:cNvPr id="537" name="Google Shape;537;p33"/>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3"/>
          <p:cNvSpPr/>
          <p:nvPr/>
        </p:nvSpPr>
        <p:spPr>
          <a:xfrm>
            <a:off x="8613648" y="914400"/>
            <a:ext cx="502920" cy="502920"/>
          </a:xfrm>
          <a:prstGeom prst="ellipse">
            <a:avLst/>
          </a:prstGeom>
          <a:solidFill>
            <a:srgbClr val="1F6F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3"/>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D1</a:t>
            </a:r>
            <a:endParaRPr b="0" i="0" sz="1400" u="none" cap="none" strike="noStrike">
              <a:solidFill>
                <a:schemeClr val="dk1"/>
              </a:solidFill>
              <a:latin typeface="Calibri"/>
              <a:ea typeface="Calibri"/>
              <a:cs typeface="Calibri"/>
              <a:sym typeface="Calibri"/>
            </a:endParaRPr>
          </a:p>
        </p:txBody>
      </p:sp>
      <p:sp>
        <p:nvSpPr>
          <p:cNvPr id="540" name="Google Shape;540;p33"/>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DEV 1</a:t>
            </a:r>
            <a:endParaRPr b="0" i="0" sz="1500" u="none" cap="none" strike="noStrike">
              <a:solidFill>
                <a:schemeClr val="dk1"/>
              </a:solidFill>
              <a:latin typeface="Calibri"/>
              <a:ea typeface="Calibri"/>
              <a:cs typeface="Calibri"/>
              <a:sym typeface="Calibri"/>
            </a:endParaRPr>
          </a:p>
        </p:txBody>
      </p:sp>
      <p:sp>
        <p:nvSpPr>
          <p:cNvPr id="541" name="Google Shape;541;p33"/>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1.5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B4550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slide 32</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Shapley Values for all Patients</a:t>
            </a:r>
            <a:endParaRPr b="0" i="0" sz="1050" u="none" cap="none" strike="noStrike">
              <a:solidFill>
                <a:schemeClr val="dk1"/>
              </a:solidFill>
              <a:latin typeface="Calibri"/>
              <a:ea typeface="Calibri"/>
              <a:cs typeface="Calibri"/>
              <a:sym typeface="Calibri"/>
            </a:endParaRPr>
          </a:p>
        </p:txBody>
      </p:sp>
      <p:sp>
        <p:nvSpPr>
          <p:cNvPr id="542" name="Google Shape;542;p33"/>
          <p:cNvSpPr/>
          <p:nvPr/>
        </p:nvSpPr>
        <p:spPr>
          <a:xfrm>
            <a:off x="8366760" y="3200400"/>
            <a:ext cx="3291840" cy="1280160"/>
          </a:xfrm>
          <a:prstGeom prst="roundRect">
            <a:avLst>
              <a:gd fmla="val 5714" name="adj"/>
            </a:avLst>
          </a:prstGeom>
          <a:solidFill>
            <a:srgbClr val="FBF1E8"/>
          </a:solidFill>
          <a:ln cap="flat" cmpd="sng" w="12700">
            <a:solidFill>
              <a:srgbClr val="B455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3"/>
          <p:cNvSpPr/>
          <p:nvPr/>
        </p:nvSpPr>
        <p:spPr>
          <a:xfrm>
            <a:off x="8613648" y="3337560"/>
            <a:ext cx="27980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0F"/>
              </a:buClr>
              <a:buSzPts val="950"/>
              <a:buFont typeface="Calibri"/>
              <a:buNone/>
            </a:pPr>
            <a:r>
              <a:rPr b="1" i="0" lang="en-US" sz="950" u="none" cap="none" strike="noStrike">
                <a:solidFill>
                  <a:srgbClr val="B4550F"/>
                </a:solidFill>
                <a:latin typeface="Calibri"/>
                <a:ea typeface="Calibri"/>
                <a:cs typeface="Calibri"/>
                <a:sym typeface="Calibri"/>
              </a:rPr>
              <a:t>IMAGE REQUIRED</a:t>
            </a:r>
            <a:endParaRPr b="0" i="0" sz="950" u="none" cap="none" strike="noStrike">
              <a:solidFill>
                <a:schemeClr val="dk1"/>
              </a:solidFill>
              <a:latin typeface="Calibri"/>
              <a:ea typeface="Calibri"/>
              <a:cs typeface="Calibri"/>
              <a:sym typeface="Calibri"/>
            </a:endParaRPr>
          </a:p>
        </p:txBody>
      </p:sp>
      <p:sp>
        <p:nvSpPr>
          <p:cNvPr id="544" name="Google Shape;544;p33"/>
          <p:cNvSpPr/>
          <p:nvPr/>
        </p:nvSpPr>
        <p:spPr>
          <a:xfrm>
            <a:off x="8613648" y="3611880"/>
            <a:ext cx="2798064"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0262A"/>
              </a:buClr>
              <a:buSzPts val="1150"/>
              <a:buFont typeface="Calibri"/>
              <a:buNone/>
            </a:pPr>
            <a:r>
              <a:rPr b="0" i="0" lang="en-US" sz="1150" u="none" cap="none" strike="noStrike">
                <a:solidFill>
                  <a:srgbClr val="20262A"/>
                </a:solidFill>
                <a:latin typeface="Calibri"/>
                <a:ea typeface="Calibri"/>
                <a:cs typeface="Calibri"/>
                <a:sym typeface="Calibri"/>
              </a:rPr>
              <a:t>SHAP force plot or summary plot</a:t>
            </a:r>
            <a:endParaRPr b="0" i="0" sz="1150" u="none" cap="none" strike="noStrike">
              <a:solidFill>
                <a:schemeClr val="dk1"/>
              </a:solidFill>
              <a:latin typeface="Calibri"/>
              <a:ea typeface="Calibri"/>
              <a:cs typeface="Calibri"/>
              <a:sym typeface="Calibri"/>
            </a:endParaRPr>
          </a:p>
        </p:txBody>
      </p:sp>
      <p:sp>
        <p:nvSpPr>
          <p:cNvPr id="545" name="Google Shape;545;p33"/>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546" name="Google Shape;546;p33"/>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547" name="Google Shape;547;p33"/>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9a3080476_0_242"/>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3</a:t>
            </a:r>
            <a:endParaRPr b="0" i="0" sz="1100" u="none" cap="none" strike="noStrike">
              <a:solidFill>
                <a:schemeClr val="dk1"/>
              </a:solidFill>
              <a:latin typeface="Calibri"/>
              <a:ea typeface="Calibri"/>
              <a:cs typeface="Calibri"/>
              <a:sym typeface="Calibri"/>
            </a:endParaRPr>
          </a:p>
        </p:txBody>
      </p:sp>
      <p:sp>
        <p:nvSpPr>
          <p:cNvPr id="554" name="Google Shape;554;g3f9a3080476_0_242"/>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Interpreting CNN Models with Grad-CAM</a:t>
            </a:r>
            <a:endParaRPr b="0" i="0" sz="3000" u="none" cap="none" strike="noStrike">
              <a:solidFill>
                <a:schemeClr val="dk1"/>
              </a:solidFill>
              <a:latin typeface="Calibri"/>
              <a:ea typeface="Calibri"/>
              <a:cs typeface="Calibri"/>
              <a:sym typeface="Calibri"/>
            </a:endParaRPr>
          </a:p>
        </p:txBody>
      </p:sp>
      <p:sp>
        <p:nvSpPr>
          <p:cNvPr id="555" name="Google Shape;555;g3f9a3080476_0_242"/>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For an image the useful unit is a region, not a pixel</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Weight each spatial map by its average gradient, then sum: L = Σₖ aₖ Aᵏ</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y is the class score BEFORE the sigmoid, not the probability</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ReLU, colour-map, resize and overlay — and use yᶜ to get one map per disease</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interpreting_cnn_models_with_grad_cam.png" id="556" name="Google Shape;556;g3f9a3080476_0_242"/>
          <p:cNvPicPr preferRelativeResize="0"/>
          <p:nvPr/>
        </p:nvPicPr>
        <p:blipFill rotWithShape="1">
          <a:blip r:embed="rId3">
            <a:alphaModFix/>
          </a:blip>
          <a:srcRect b="0" l="0" r="0" t="0"/>
          <a:stretch/>
        </p:blipFill>
        <p:spPr>
          <a:xfrm>
            <a:off x="502920" y="2755821"/>
            <a:ext cx="11155680" cy="3535251"/>
          </a:xfrm>
          <a:prstGeom prst="rect">
            <a:avLst/>
          </a:prstGeom>
          <a:noFill/>
          <a:ln>
            <a:noFill/>
          </a:ln>
        </p:spPr>
      </p:pic>
      <p:sp>
        <p:nvSpPr>
          <p:cNvPr id="557" name="Google Shape;557;g3f9a3080476_0_242"/>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558" name="Google Shape;558;g3f9a3080476_0_242"/>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3f9a3080476_0_252"/>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MODULE 3</a:t>
            </a:r>
            <a:endParaRPr b="0" i="0" sz="1100" u="none" cap="none" strike="noStrike">
              <a:solidFill>
                <a:schemeClr val="dk1"/>
              </a:solidFill>
              <a:latin typeface="Calibri"/>
              <a:ea typeface="Calibri"/>
              <a:cs typeface="Calibri"/>
              <a:sym typeface="Calibri"/>
            </a:endParaRPr>
          </a:p>
        </p:txBody>
      </p:sp>
      <p:sp>
        <p:nvSpPr>
          <p:cNvPr id="565" name="Google Shape;565;g3f9a3080476_0_252"/>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Grad-CAM in the Notebook</a:t>
            </a:r>
            <a:endParaRPr b="0" i="0" sz="3000" u="none" cap="none" strike="noStrike">
              <a:solidFill>
                <a:schemeClr val="dk1"/>
              </a:solidFill>
              <a:latin typeface="Calibri"/>
              <a:ea typeface="Calibri"/>
              <a:cs typeface="Calibri"/>
              <a:sym typeface="Calibri"/>
            </a:endParaRPr>
          </a:p>
        </p:txBody>
      </p:sp>
      <p:sp>
        <p:nvSpPr>
          <p:cNvPr id="566" name="Google Shape;566;g3f9a3080476_0_252"/>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LAB — DenseNet121 with a 14-class sigmoid head, 7,051,854 parameters</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LAB — spatial maps from layer 424, conv5_block16_concat, shape (10, 10, 1024)</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LAB — Part 2 fails on modern TensorFlow: tf.gradients needs eager execution disabled</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DEFECT — it differentiates the probability, and hard-codes class index 0</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grad_cam_in_the_notebook.png" id="567" name="Google Shape;567;g3f9a3080476_0_252"/>
          <p:cNvPicPr preferRelativeResize="0"/>
          <p:nvPr/>
        </p:nvPicPr>
        <p:blipFill rotWithShape="1">
          <a:blip r:embed="rId3">
            <a:alphaModFix/>
          </a:blip>
          <a:srcRect b="0" l="0" r="0" t="0"/>
          <a:stretch/>
        </p:blipFill>
        <p:spPr>
          <a:xfrm>
            <a:off x="502920" y="2755821"/>
            <a:ext cx="11155680" cy="3535251"/>
          </a:xfrm>
          <a:prstGeom prst="rect">
            <a:avLst/>
          </a:prstGeom>
          <a:noFill/>
          <a:ln>
            <a:noFill/>
          </a:ln>
        </p:spPr>
      </p:pic>
      <p:sp>
        <p:nvSpPr>
          <p:cNvPr id="568" name="Google Shape;568;g3f9a3080476_0_252"/>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569" name="Google Shape;569;g3f9a3080476_0_252"/>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f9a3080476_0_262"/>
          <p:cNvSpPr/>
          <p:nvPr/>
        </p:nvSpPr>
        <p:spPr>
          <a:xfrm>
            <a:off x="502920" y="384048"/>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WRAP-UP</a:t>
            </a:r>
            <a:endParaRPr b="0" i="0" sz="1100" u="none" cap="none" strike="noStrike">
              <a:solidFill>
                <a:schemeClr val="dk1"/>
              </a:solidFill>
              <a:latin typeface="Calibri"/>
              <a:ea typeface="Calibri"/>
              <a:cs typeface="Calibri"/>
              <a:sym typeface="Calibri"/>
            </a:endParaRPr>
          </a:p>
        </p:txBody>
      </p:sp>
      <p:sp>
        <p:nvSpPr>
          <p:cNvPr id="576" name="Google Shape;576;g3f9a3080476_0_262"/>
          <p:cNvSpPr/>
          <p:nvPr/>
        </p:nvSpPr>
        <p:spPr>
          <a:xfrm>
            <a:off x="502920" y="685800"/>
            <a:ext cx="111558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Key Insights from the Specialization</a:t>
            </a:r>
            <a:endParaRPr b="0" i="0" sz="3000" u="none" cap="none" strike="noStrike">
              <a:solidFill>
                <a:schemeClr val="dk1"/>
              </a:solidFill>
              <a:latin typeface="Calibri"/>
              <a:ea typeface="Calibri"/>
              <a:cs typeface="Calibri"/>
              <a:sym typeface="Calibri"/>
            </a:endParaRPr>
          </a:p>
        </p:txBody>
      </p:sp>
      <p:sp>
        <p:nvSpPr>
          <p:cNvPr id="577" name="Google Shape;577;g3f9a3080476_0_262"/>
          <p:cNvSpPr/>
          <p:nvPr/>
        </p:nvSpPr>
        <p:spPr>
          <a:xfrm>
            <a:off x="502920" y="1591056"/>
            <a:ext cx="11155800" cy="896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Three clinical questions — diagnosis, prognosis, treatment — need three kinds of model</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Course 3 is the only one that asks what happens IF we intervene, not what will happen</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20262A"/>
              </a:buClr>
              <a:buSzPts val="1250"/>
              <a:buFont typeface="Calibri"/>
              <a:buChar char="•"/>
            </a:pPr>
            <a:r>
              <a:rPr b="0" i="0" lang="en-US" sz="1250" u="none" cap="none" strike="noStrike">
                <a:solidFill>
                  <a:srgbClr val="20262A"/>
                </a:solidFill>
                <a:latin typeface="Calibri"/>
                <a:ea typeface="Calibri"/>
                <a:cs typeface="Calibri"/>
                <a:sym typeface="Calibri"/>
              </a:rPr>
              <a:t>The five lessons below carry across every course in the specialization</a:t>
            </a:r>
            <a:endParaRPr b="0" i="0" sz="1250" u="none" cap="none" strike="noStrike">
              <a:solidFill>
                <a:schemeClr val="dk1"/>
              </a:solidFill>
              <a:latin typeface="Calibri"/>
              <a:ea typeface="Calibri"/>
              <a:cs typeface="Calibri"/>
              <a:sym typeface="Calibri"/>
            </a:endParaRPr>
          </a:p>
        </p:txBody>
      </p:sp>
      <p:pic>
        <p:nvPicPr>
          <p:cNvPr descr="/sessions/trusting-youthful-fermi/mnt/outputs/figs/key_insights_from_the_specialization.png" id="578" name="Google Shape;578;g3f9a3080476_0_262"/>
          <p:cNvPicPr preferRelativeResize="0"/>
          <p:nvPr/>
        </p:nvPicPr>
        <p:blipFill rotWithShape="1">
          <a:blip r:embed="rId3">
            <a:alphaModFix/>
          </a:blip>
          <a:srcRect b="0" l="0" r="0" t="0"/>
          <a:stretch/>
        </p:blipFill>
        <p:spPr>
          <a:xfrm>
            <a:off x="502920" y="2755821"/>
            <a:ext cx="11155680" cy="3535251"/>
          </a:xfrm>
          <a:prstGeom prst="rect">
            <a:avLst/>
          </a:prstGeom>
          <a:noFill/>
          <a:ln>
            <a:noFill/>
          </a:ln>
        </p:spPr>
      </p:pic>
      <p:sp>
        <p:nvSpPr>
          <p:cNvPr id="579" name="Google Shape;579;g3f9a3080476_0_262"/>
          <p:cNvSpPr/>
          <p:nvPr/>
        </p:nvSpPr>
        <p:spPr>
          <a:xfrm>
            <a:off x="502920" y="638251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580" name="Google Shape;580;g3f9a3080476_0_262"/>
          <p:cNvSpPr/>
          <p:nvPr/>
        </p:nvSpPr>
        <p:spPr>
          <a:xfrm>
            <a:off x="11231575" y="638251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0"/>
          <p:cNvSpPr/>
          <p:nvPr/>
        </p:nvSpPr>
        <p:spPr>
          <a:xfrm>
            <a:off x="502920" y="38404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7A"/>
              </a:buClr>
              <a:buSzPts val="1100"/>
              <a:buFont typeface="Calibri"/>
              <a:buNone/>
            </a:pPr>
            <a:r>
              <a:rPr b="1" i="0" lang="en-US" sz="1100" u="none" cap="none" strike="noStrike">
                <a:solidFill>
                  <a:srgbClr val="1F6F7A"/>
                </a:solidFill>
                <a:latin typeface="Calibri"/>
                <a:ea typeface="Calibri"/>
                <a:cs typeface="Calibri"/>
                <a:sym typeface="Calibri"/>
              </a:rPr>
              <a:t>WRAP-UP</a:t>
            </a:r>
            <a:endParaRPr b="0" i="0" sz="1100" u="none" cap="none" strike="noStrike">
              <a:solidFill>
                <a:schemeClr val="dk1"/>
              </a:solidFill>
              <a:latin typeface="Calibri"/>
              <a:ea typeface="Calibri"/>
              <a:cs typeface="Calibri"/>
              <a:sym typeface="Calibri"/>
            </a:endParaRPr>
          </a:p>
        </p:txBody>
      </p:sp>
      <p:sp>
        <p:nvSpPr>
          <p:cNvPr id="587" name="Google Shape;587;p40"/>
          <p:cNvSpPr/>
          <p:nvPr/>
        </p:nvSpPr>
        <p:spPr>
          <a:xfrm>
            <a:off x="502920" y="685800"/>
            <a:ext cx="75895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3000"/>
              <a:buFont typeface="Calibri"/>
              <a:buNone/>
            </a:pPr>
            <a:r>
              <a:rPr b="1" i="0" lang="en-US" sz="3000" u="none" cap="none" strike="noStrike">
                <a:solidFill>
                  <a:srgbClr val="17313B"/>
                </a:solidFill>
                <a:latin typeface="Calibri"/>
                <a:ea typeface="Calibri"/>
                <a:cs typeface="Calibri"/>
                <a:sym typeface="Calibri"/>
              </a:rPr>
              <a:t>Questions</a:t>
            </a:r>
            <a:endParaRPr b="0" i="0" sz="3000" u="none" cap="none" strike="noStrike">
              <a:solidFill>
                <a:schemeClr val="dk1"/>
              </a:solidFill>
              <a:latin typeface="Calibri"/>
              <a:ea typeface="Calibri"/>
              <a:cs typeface="Calibri"/>
              <a:sym typeface="Calibri"/>
            </a:endParaRPr>
          </a:p>
        </p:txBody>
      </p:sp>
      <p:sp>
        <p:nvSpPr>
          <p:cNvPr id="588" name="Google Shape;588;p40"/>
          <p:cNvSpPr/>
          <p:nvPr/>
        </p:nvSpPr>
        <p:spPr>
          <a:xfrm>
            <a:off x="502920" y="1691640"/>
            <a:ext cx="7498080" cy="4023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[BIZ 1] Why not just use a risk prediction model instead of causal inference?</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[DEV 1] Is a C-for-benefit of 0.6 good enough to use in practice?</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[DEV 1] Which is better, the S-learner or the T-learner?</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[DEV 2] Does a Grad-CAM heat map prove the model is correct?</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[BIZ 2] If the NLP in Module 2 is dated, why study it?</a:t>
            </a:r>
            <a:endParaRPr b="0" i="0" sz="155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0262A"/>
              </a:buClr>
              <a:buSzPts val="1550"/>
              <a:buFont typeface="Calibri"/>
              <a:buChar char="•"/>
            </a:pPr>
            <a:r>
              <a:rPr b="0" i="0" lang="en-US" sz="1550" u="none" cap="none" strike="noStrike">
                <a:solidFill>
                  <a:srgbClr val="20262A"/>
                </a:solidFill>
                <a:latin typeface="Calibri"/>
                <a:ea typeface="Calibri"/>
                <a:cs typeface="Calibri"/>
                <a:sym typeface="Calibri"/>
              </a:rPr>
              <a:t>[BIZ 2] Labels extracted by rules are noisy — why does training on them still work?</a:t>
            </a:r>
            <a:endParaRPr b="0" i="0" sz="1550" u="none" cap="none" strike="noStrike">
              <a:solidFill>
                <a:schemeClr val="dk1"/>
              </a:solidFill>
              <a:latin typeface="Calibri"/>
              <a:ea typeface="Calibri"/>
              <a:cs typeface="Calibri"/>
              <a:sym typeface="Calibri"/>
            </a:endParaRPr>
          </a:p>
        </p:txBody>
      </p:sp>
      <p:sp>
        <p:nvSpPr>
          <p:cNvPr id="589" name="Google Shape;589;p40"/>
          <p:cNvSpPr/>
          <p:nvPr/>
        </p:nvSpPr>
        <p:spPr>
          <a:xfrm>
            <a:off x="8366760" y="685800"/>
            <a:ext cx="3291840" cy="2331720"/>
          </a:xfrm>
          <a:prstGeom prst="roundRect">
            <a:avLst>
              <a:gd fmla="val 3137" name="adj"/>
            </a:avLst>
          </a:prstGeom>
          <a:solidFill>
            <a:srgbClr val="EEF3F4"/>
          </a:solidFill>
          <a:ln cap="flat" cmpd="sng" w="12700">
            <a:solidFill>
              <a:srgbClr val="CCD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0"/>
          <p:cNvSpPr/>
          <p:nvPr/>
        </p:nvSpPr>
        <p:spPr>
          <a:xfrm>
            <a:off x="8613648" y="914400"/>
            <a:ext cx="502920" cy="502920"/>
          </a:xfrm>
          <a:prstGeom prst="ellipse">
            <a:avLst/>
          </a:prstGeom>
          <a:solidFill>
            <a:srgbClr val="1731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0"/>
          <p:cNvSpPr/>
          <p:nvPr/>
        </p:nvSpPr>
        <p:spPr>
          <a:xfrm>
            <a:off x="8613648" y="914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ALL</a:t>
            </a:r>
            <a:endParaRPr b="0" i="0" sz="1000" u="none" cap="none" strike="noStrike">
              <a:solidFill>
                <a:schemeClr val="dk1"/>
              </a:solidFill>
              <a:latin typeface="Calibri"/>
              <a:ea typeface="Calibri"/>
              <a:cs typeface="Calibri"/>
              <a:sym typeface="Calibri"/>
            </a:endParaRPr>
          </a:p>
        </p:txBody>
      </p:sp>
      <p:sp>
        <p:nvSpPr>
          <p:cNvPr id="592" name="Google Shape;592;p40"/>
          <p:cNvSpPr/>
          <p:nvPr/>
        </p:nvSpPr>
        <p:spPr>
          <a:xfrm>
            <a:off x="9235440" y="9144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13B"/>
              </a:buClr>
              <a:buSzPts val="1500"/>
              <a:buFont typeface="Calibri"/>
              <a:buNone/>
            </a:pPr>
            <a:r>
              <a:rPr b="1" i="0" lang="en-US" sz="1500" u="none" cap="none" strike="noStrike">
                <a:solidFill>
                  <a:srgbClr val="17313B"/>
                </a:solidFill>
                <a:latin typeface="Calibri"/>
                <a:ea typeface="Calibri"/>
                <a:cs typeface="Calibri"/>
                <a:sym typeface="Calibri"/>
              </a:rPr>
              <a:t>All members</a:t>
            </a:r>
            <a:endParaRPr b="0" i="0" sz="1500" u="none" cap="none" strike="noStrike">
              <a:solidFill>
                <a:schemeClr val="dk1"/>
              </a:solidFill>
              <a:latin typeface="Calibri"/>
              <a:ea typeface="Calibri"/>
              <a:cs typeface="Calibri"/>
              <a:sym typeface="Calibri"/>
            </a:endParaRPr>
          </a:p>
        </p:txBody>
      </p:sp>
      <p:sp>
        <p:nvSpPr>
          <p:cNvPr id="593" name="Google Shape;593;p40"/>
          <p:cNvSpPr/>
          <p:nvPr/>
        </p:nvSpPr>
        <p:spPr>
          <a:xfrm>
            <a:off x="8613648" y="1536192"/>
            <a:ext cx="2798064" cy="14630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Time   </a:t>
            </a:r>
            <a:r>
              <a:rPr b="1" i="0" lang="en-US" sz="1050" u="none" cap="none" strike="noStrike">
                <a:solidFill>
                  <a:srgbClr val="20262A"/>
                </a:solidFill>
                <a:latin typeface="Calibri"/>
                <a:ea typeface="Calibri"/>
                <a:cs typeface="Calibri"/>
                <a:sym typeface="Calibri"/>
              </a:rPr>
              <a:t>10 min</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Level   </a:t>
            </a:r>
            <a:r>
              <a:rPr b="1" i="0" lang="en-US" sz="1050" u="none" cap="none" strike="noStrike">
                <a:solidFill>
                  <a:srgbClr val="B4550F"/>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Depends on   </a:t>
            </a:r>
            <a:r>
              <a:rPr b="1" i="0" lang="en-US" sz="1050" u="none" cap="none" strike="noStrike">
                <a:solidFill>
                  <a:srgbClr val="20262A"/>
                </a:solidFill>
                <a:latin typeface="Calibri"/>
                <a:ea typeface="Calibri"/>
                <a:cs typeface="Calibri"/>
                <a:sym typeface="Calibri"/>
              </a:rPr>
              <a:t>None — can stand alone</a:t>
            </a:r>
            <a:endParaRPr b="0" i="0" sz="105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6B7A7F"/>
              </a:buClr>
              <a:buSzPts val="1050"/>
              <a:buFont typeface="Calibri"/>
              <a:buNone/>
            </a:pPr>
            <a:r>
              <a:rPr b="0" i="0" lang="en-US" sz="1050" u="none" cap="none" strike="noStrike">
                <a:solidFill>
                  <a:srgbClr val="6B7A7F"/>
                </a:solidFill>
                <a:latin typeface="Calibri"/>
                <a:ea typeface="Calibri"/>
                <a:cs typeface="Calibri"/>
                <a:sym typeface="Calibri"/>
              </a:rPr>
              <a:t>Course source   </a:t>
            </a:r>
            <a:r>
              <a:rPr b="1" i="0" lang="en-US" sz="1050" u="none" cap="none" strike="noStrike">
                <a:solidFill>
                  <a:srgbClr val="20262A"/>
                </a:solidFill>
                <a:latin typeface="Calibri"/>
                <a:ea typeface="Calibri"/>
                <a:cs typeface="Calibri"/>
                <a:sym typeface="Calibri"/>
              </a:rPr>
              <a:t>Whole course</a:t>
            </a:r>
            <a:endParaRPr b="0" i="0" sz="1050" u="none" cap="none" strike="noStrike">
              <a:solidFill>
                <a:schemeClr val="dk1"/>
              </a:solidFill>
              <a:latin typeface="Calibri"/>
              <a:ea typeface="Calibri"/>
              <a:cs typeface="Calibri"/>
              <a:sym typeface="Calibri"/>
            </a:endParaRPr>
          </a:p>
        </p:txBody>
      </p:sp>
      <p:sp>
        <p:nvSpPr>
          <p:cNvPr id="594" name="Google Shape;594;p40"/>
          <p:cNvSpPr/>
          <p:nvPr/>
        </p:nvSpPr>
        <p:spPr>
          <a:xfrm>
            <a:off x="502920" y="59893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50"/>
              <a:buFont typeface="Calibri"/>
              <a:buNone/>
            </a:pPr>
            <a:r>
              <a:rPr b="0" i="1" lang="en-US" sz="950" u="none" cap="none" strike="noStrike">
                <a:solidFill>
                  <a:srgbClr val="6B7A7F"/>
                </a:solidFill>
                <a:latin typeface="Calibri"/>
                <a:ea typeface="Calibri"/>
                <a:cs typeface="Calibri"/>
                <a:sym typeface="Calibri"/>
              </a:rPr>
              <a:t>Replace these bullets with your own wording — this is the outline to say, not text to read out.</a:t>
            </a:r>
            <a:endParaRPr b="0" i="0" sz="950" u="none" cap="none" strike="noStrike">
              <a:solidFill>
                <a:schemeClr val="dk1"/>
              </a:solidFill>
              <a:latin typeface="Calibri"/>
              <a:ea typeface="Calibri"/>
              <a:cs typeface="Calibri"/>
              <a:sym typeface="Calibri"/>
            </a:endParaRPr>
          </a:p>
        </p:txBody>
      </p:sp>
      <p:sp>
        <p:nvSpPr>
          <p:cNvPr id="595" name="Google Shape;595;p40"/>
          <p:cNvSpPr/>
          <p:nvPr/>
        </p:nvSpPr>
        <p:spPr>
          <a:xfrm>
            <a:off x="502920" y="63825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AI For Medical Treatment · Course 3</a:t>
            </a:r>
            <a:endParaRPr b="0" i="0" sz="900" u="none" cap="none" strike="noStrike">
              <a:solidFill>
                <a:schemeClr val="dk1"/>
              </a:solidFill>
              <a:latin typeface="Calibri"/>
              <a:ea typeface="Calibri"/>
              <a:cs typeface="Calibri"/>
              <a:sym typeface="Calibri"/>
            </a:endParaRPr>
          </a:p>
        </p:txBody>
      </p:sp>
      <p:sp>
        <p:nvSpPr>
          <p:cNvPr id="596" name="Google Shape;596;p40"/>
          <p:cNvSpPr/>
          <p:nvPr/>
        </p:nvSpPr>
        <p:spPr>
          <a:xfrm>
            <a:off x="11231575" y="638251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7F"/>
              </a:buClr>
              <a:buSzPts val="900"/>
              <a:buFont typeface="Calibri"/>
              <a:buNone/>
            </a:pPr>
            <a:r>
              <a:rPr b="0" i="0" lang="en-US" sz="900" u="none" cap="none" strike="noStrike">
                <a:solidFill>
                  <a:srgbClr val="6B7A7F"/>
                </a:solidFill>
                <a:latin typeface="Calibri"/>
                <a:ea typeface="Calibri"/>
                <a:cs typeface="Calibri"/>
                <a:sym typeface="Calibri"/>
              </a:rPr>
              <a:t>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2026-08-12T02:31:01Z</dcterms:created>
  <dc:creator>AI For Medical Treatment team</dc:creator>
</cp:coreProperties>
</file>